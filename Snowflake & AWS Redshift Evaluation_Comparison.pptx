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slideLayout" Target="../slideLayouts/slideLayout1.xml"/><Relationship Id="rId1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BF8"/>
        </a:solidFill>
      </p:bgPr>
    </p:bg>
    <p:spTree>
      <p:nvGrpSpPr>
        <p:cNvPr id="1" name=""/>
        <p:cNvGrpSpPr/>
        <p:nvPr/>
      </p:nvGrpSpPr>
      <p:grpSpPr>
        <a:xfrm>
          <a:off x="0" y="0"/>
          <a:ext cx="0" cy="0"/>
          <a:chOff x="0" y="0"/>
          <a:chExt cx="0" cy="0"/>
        </a:xfrm>
      </p:grpSpPr>
      <p:sp>
        <p:nvSpPr>
          <p:cNvPr id="2" name="Shape 0"/>
          <p:cNvSpPr/>
          <p:nvPr/>
        </p:nvSpPr>
        <p:spPr>
          <a:xfrm>
            <a:off x="0" y="0"/>
            <a:ext cx="12192000" cy="1270000"/>
          </a:xfrm>
          <a:prstGeom prst="rect">
            <a:avLst/>
          </a:prstGeom>
          <a:solidFill>
            <a:srgbClr val="6A9FD4"/>
          </a:solidFill>
          <a:ln/>
        </p:spPr>
      </p:sp>
      <p:pic>
        <p:nvPicPr>
          <p:cNvPr id="3" name="Image 0" descr="preencoded.png">    </p:cNvPr>
          <p:cNvPicPr>
            <a:picLocks noChangeAspect="1"/>
          </p:cNvPicPr>
          <p:nvPr/>
        </p:nvPicPr>
        <p:blipFill>
          <a:blip r:embed="rId1"/>
          <a:srcRect l="-82" r="-82" t="0" b="0"/>
          <a:stretch/>
        </p:blipFill>
        <p:spPr>
          <a:xfrm>
            <a:off x="0" y="5651500"/>
            <a:ext cx="12192000" cy="1206500"/>
          </a:xfrm>
          <a:prstGeom prst="rect">
            <a:avLst/>
          </a:prstGeom>
        </p:spPr>
      </p:pic>
      <p:pic>
        <p:nvPicPr>
          <p:cNvPr id="4" name="Image 1" descr="Gears">    </p:cNvPr>
          <p:cNvPicPr>
            <a:picLocks noChangeAspect="1"/>
          </p:cNvPicPr>
          <p:nvPr/>
        </p:nvPicPr>
        <p:blipFill>
          <a:blip r:embed="rId2"/>
          <a:srcRect l="0" r="0" t="0" b="0"/>
          <a:stretch/>
        </p:blipFill>
        <p:spPr>
          <a:xfrm>
            <a:off x="7874000" y="2095500"/>
            <a:ext cx="3556000" cy="3683000"/>
          </a:xfrm>
          <a:prstGeom prst="rect">
            <a:avLst/>
          </a:prstGeom>
        </p:spPr>
      </p:pic>
      <p:sp>
        <p:nvSpPr>
          <p:cNvPr id="5" name="Text 1"/>
          <p:cNvSpPr/>
          <p:nvPr/>
        </p:nvSpPr>
        <p:spPr>
          <a:xfrm>
            <a:off x="952500" y="4318000"/>
            <a:ext cx="6540500"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2B3440"/>
                </a:solidFill>
                <a:latin typeface="Source Sans 3" pitchFamily="34" charset="0"/>
                <a:ea typeface="Source Sans 3" pitchFamily="34" charset="-122"/>
                <a:cs typeface="Source Sans 3" pitchFamily="34" charset="-120"/>
              </a:rPr>
              <a:t>Snowflake &amp; AWS Redshift</a:t>
            </a:r>
            <a:endParaRPr lang="en-US" sz="2400" dirty="0"/>
          </a:p>
        </p:txBody>
      </p:sp>
      <p:sp>
        <p:nvSpPr>
          <p:cNvPr id="6" name="Text 2"/>
          <p:cNvSpPr/>
          <p:nvPr/>
        </p:nvSpPr>
        <p:spPr>
          <a:xfrm>
            <a:off x="952500" y="4699000"/>
            <a:ext cx="65405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5D6570"/>
                </a:solidFill>
                <a:latin typeface="Source Sans 3" pitchFamily="34" charset="0"/>
                <a:ea typeface="Source Sans 3" pitchFamily="34" charset="-122"/>
                <a:cs typeface="Source Sans 3" pitchFamily="34" charset="-120"/>
              </a:rPr>
              <a:t>Evaluation</a:t>
            </a:r>
            <a:endParaRPr lang="en-US" sz="2200" dirty="0"/>
          </a:p>
        </p:txBody>
      </p:sp>
      <p:sp>
        <p:nvSpPr>
          <p:cNvPr id="7" name="Text 3"/>
          <p:cNvSpPr/>
          <p:nvPr/>
        </p:nvSpPr>
        <p:spPr>
          <a:xfrm>
            <a:off x="952500" y="5130800"/>
            <a:ext cx="52324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046"/>
                </a:solidFill>
                <a:latin typeface="Source Sans 3" pitchFamily="34" charset="0"/>
                <a:ea typeface="Source Sans 3" pitchFamily="34" charset="-122"/>
                <a:cs typeface="Source Sans 3" pitchFamily="34" charset="-120"/>
              </a:rPr>
              <a:t>By Nilabh Sharma</a:t>
            </a:r>
            <a:endParaRPr lang="en-US" sz="1400" dirty="0"/>
          </a:p>
        </p:txBody>
      </p:sp>
      <p:sp>
        <p:nvSpPr>
          <p:cNvPr id="8" name="Text 4"/>
          <p:cNvSpPr/>
          <p:nvPr/>
        </p:nvSpPr>
        <p:spPr>
          <a:xfrm>
            <a:off x="952500" y="5384800"/>
            <a:ext cx="3924300" cy="256480"/>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2E5D8C"/>
                </a:solidFill>
                <a:latin typeface="Source Sans 3" pitchFamily="34" charset="0"/>
                <a:ea typeface="Source Sans 3" pitchFamily="34" charset="-122"/>
                <a:cs typeface="Source Sans 3" pitchFamily="34" charset="-120"/>
              </a:rPr>
              <a:t>20-Feb-2023</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82" r="-82" t="0" b="0"/>
          <a:stretch/>
        </p:blipFill>
        <p:spPr>
          <a:xfrm>
            <a:off x="0" y="5651500"/>
            <a:ext cx="12192000" cy="1206500"/>
          </a:xfrm>
          <a:prstGeom prst="rect">
            <a:avLst/>
          </a:prstGeom>
        </p:spPr>
      </p:pic>
      <p:sp>
        <p:nvSpPr>
          <p:cNvPr id="3" name="Text 0"/>
          <p:cNvSpPr/>
          <p:nvPr/>
        </p:nvSpPr>
        <p:spPr>
          <a:xfrm>
            <a:off x="457200" y="228600"/>
            <a:ext cx="11615928" cy="434280"/>
          </a:xfrm>
          <a:prstGeom prst="rect">
            <a:avLst/>
          </a:prstGeom>
          <a:noFill/>
          <a:ln/>
        </p:spPr>
        <p:txBody>
          <a:bodyPr wrap="square" lIns="0" tIns="0" rIns="0" bIns="0" rtlCol="0" anchor="t">
            <a:normAutofit/>
          </a:bodyPr>
          <a:lstStyle/>
          <a:p>
            <a:pPr algn="l" indent="0" marL="0">
              <a:lnSpc>
                <a:spcPts val="3220"/>
              </a:lnSpc>
              <a:buNone/>
            </a:pPr>
            <a:r>
              <a:rPr lang="en-US" sz="2800" dirty="0">
                <a:solidFill>
                  <a:srgbClr val="3B4046"/>
                </a:solidFill>
                <a:latin typeface="Source Sans 3" pitchFamily="34" charset="0"/>
                <a:ea typeface="Source Sans 3" pitchFamily="34" charset="-122"/>
                <a:cs typeface="Source Sans 3" pitchFamily="34" charset="-120"/>
              </a:rPr>
              <a:t>Table of Contents</a:t>
            </a:r>
            <a:endParaRPr lang="en-US" sz="2800" dirty="0"/>
          </a:p>
        </p:txBody>
      </p:sp>
      <p:sp>
        <p:nvSpPr>
          <p:cNvPr id="4" name="Shape 1"/>
          <p:cNvSpPr/>
          <p:nvPr/>
        </p:nvSpPr>
        <p:spPr>
          <a:xfrm>
            <a:off x="457200" y="840680"/>
            <a:ext cx="11277600" cy="19050"/>
          </a:xfrm>
          <a:prstGeom prst="rect">
            <a:avLst/>
          </a:prstGeom>
          <a:solidFill>
            <a:srgbClr val="5F7F9C"/>
          </a:solidFill>
          <a:ln/>
        </p:spPr>
      </p:sp>
      <p:sp>
        <p:nvSpPr>
          <p:cNvPr id="5" name="Shape 2"/>
          <p:cNvSpPr/>
          <p:nvPr/>
        </p:nvSpPr>
        <p:spPr>
          <a:xfrm>
            <a:off x="457200" y="859730"/>
            <a:ext cx="11277600" cy="19050"/>
          </a:xfrm>
          <a:prstGeom prst="rect">
            <a:avLst/>
          </a:prstGeom>
          <a:solidFill>
            <a:srgbClr val="A9B53A"/>
          </a:solidFill>
          <a:ln/>
        </p:spPr>
      </p:sp>
      <p:sp>
        <p:nvSpPr>
          <p:cNvPr id="6" name="Text 3"/>
          <p:cNvSpPr/>
          <p:nvPr/>
        </p:nvSpPr>
        <p:spPr>
          <a:xfrm>
            <a:off x="1155700" y="1132780"/>
            <a:ext cx="55880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5D6570"/>
                </a:solidFill>
                <a:latin typeface="Source Sans 3" pitchFamily="34" charset="0"/>
                <a:ea typeface="Source Sans 3" pitchFamily="34" charset="-122"/>
                <a:cs typeface="Source Sans 3" pitchFamily="34" charset="-120"/>
              </a:rPr>
              <a:t>1.</a:t>
            </a:r>
            <a:endParaRPr lang="en-US" sz="1800" dirty="0"/>
          </a:p>
        </p:txBody>
      </p:sp>
      <p:sp>
        <p:nvSpPr>
          <p:cNvPr id="7" name="Text 4"/>
          <p:cNvSpPr/>
          <p:nvPr/>
        </p:nvSpPr>
        <p:spPr>
          <a:xfrm>
            <a:off x="1663700" y="1132780"/>
            <a:ext cx="418592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B4046"/>
                </a:solidFill>
                <a:latin typeface="Source Sans 3" pitchFamily="34" charset="0"/>
                <a:ea typeface="Source Sans 3" pitchFamily="34" charset="-122"/>
                <a:cs typeface="Source Sans 3" pitchFamily="34" charset="-120"/>
              </a:rPr>
              <a:t>Overview</a:t>
            </a:r>
            <a:endParaRPr lang="en-US" sz="1800" dirty="0"/>
          </a:p>
        </p:txBody>
      </p:sp>
      <p:sp>
        <p:nvSpPr>
          <p:cNvPr id="8" name="Text 5"/>
          <p:cNvSpPr/>
          <p:nvPr/>
        </p:nvSpPr>
        <p:spPr>
          <a:xfrm>
            <a:off x="5727700" y="1132780"/>
            <a:ext cx="67052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B4046"/>
                </a:solidFill>
                <a:latin typeface="Source Sans 3" pitchFamily="34" charset="0"/>
                <a:ea typeface="Source Sans 3" pitchFamily="34" charset="-122"/>
                <a:cs typeface="Source Sans 3" pitchFamily="34" charset="-120"/>
              </a:rPr>
              <a:t>Page 3</a:t>
            </a:r>
            <a:endParaRPr lang="en-US" sz="1800" dirty="0"/>
          </a:p>
        </p:txBody>
      </p:sp>
      <p:sp>
        <p:nvSpPr>
          <p:cNvPr id="9" name="Text 6"/>
          <p:cNvSpPr/>
          <p:nvPr/>
        </p:nvSpPr>
        <p:spPr>
          <a:xfrm>
            <a:off x="1155700" y="1694061"/>
            <a:ext cx="55880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5D6570"/>
                </a:solidFill>
                <a:latin typeface="Source Sans 3" pitchFamily="34" charset="0"/>
                <a:ea typeface="Source Sans 3" pitchFamily="34" charset="-122"/>
                <a:cs typeface="Source Sans 3" pitchFamily="34" charset="-120"/>
              </a:rPr>
              <a:t>2.</a:t>
            </a:r>
            <a:endParaRPr lang="en-US" sz="1800" dirty="0"/>
          </a:p>
        </p:txBody>
      </p:sp>
      <p:sp>
        <p:nvSpPr>
          <p:cNvPr id="10" name="Text 7"/>
          <p:cNvSpPr/>
          <p:nvPr/>
        </p:nvSpPr>
        <p:spPr>
          <a:xfrm>
            <a:off x="1663700" y="1694061"/>
            <a:ext cx="418592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B4046"/>
                </a:solidFill>
                <a:latin typeface="Source Sans 3" pitchFamily="34" charset="0"/>
                <a:ea typeface="Source Sans 3" pitchFamily="34" charset="-122"/>
                <a:cs typeface="Source Sans 3" pitchFamily="34" charset="-120"/>
              </a:rPr>
              <a:t>Snowflake Architecture</a:t>
            </a:r>
            <a:endParaRPr lang="en-US" sz="1800" dirty="0"/>
          </a:p>
        </p:txBody>
      </p:sp>
      <p:sp>
        <p:nvSpPr>
          <p:cNvPr id="11" name="Text 8"/>
          <p:cNvSpPr/>
          <p:nvPr/>
        </p:nvSpPr>
        <p:spPr>
          <a:xfrm>
            <a:off x="5727700" y="1694061"/>
            <a:ext cx="67052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B4046"/>
                </a:solidFill>
                <a:latin typeface="Source Sans 3" pitchFamily="34" charset="0"/>
                <a:ea typeface="Source Sans 3" pitchFamily="34" charset="-122"/>
                <a:cs typeface="Source Sans 3" pitchFamily="34" charset="-120"/>
              </a:rPr>
              <a:t>Page 4</a:t>
            </a:r>
            <a:endParaRPr lang="en-US" sz="1800" dirty="0"/>
          </a:p>
        </p:txBody>
      </p:sp>
      <p:sp>
        <p:nvSpPr>
          <p:cNvPr id="12" name="Text 9"/>
          <p:cNvSpPr/>
          <p:nvPr/>
        </p:nvSpPr>
        <p:spPr>
          <a:xfrm>
            <a:off x="1155700" y="2255341"/>
            <a:ext cx="55880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5D6570"/>
                </a:solidFill>
                <a:latin typeface="Source Sans 3" pitchFamily="34" charset="0"/>
                <a:ea typeface="Source Sans 3" pitchFamily="34" charset="-122"/>
                <a:cs typeface="Source Sans 3" pitchFamily="34" charset="-120"/>
              </a:rPr>
              <a:t>3.</a:t>
            </a:r>
            <a:endParaRPr lang="en-US" sz="1800" dirty="0"/>
          </a:p>
        </p:txBody>
      </p:sp>
      <p:sp>
        <p:nvSpPr>
          <p:cNvPr id="13" name="Text 10"/>
          <p:cNvSpPr/>
          <p:nvPr/>
        </p:nvSpPr>
        <p:spPr>
          <a:xfrm>
            <a:off x="1663700" y="2255341"/>
            <a:ext cx="418592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B4046"/>
                </a:solidFill>
                <a:latin typeface="Source Sans 3" pitchFamily="34" charset="0"/>
                <a:ea typeface="Source Sans 3" pitchFamily="34" charset="-122"/>
                <a:cs typeface="Source Sans 3" pitchFamily="34" charset="-120"/>
              </a:rPr>
              <a:t>AWS Architecture</a:t>
            </a:r>
            <a:endParaRPr lang="en-US" sz="1800" dirty="0"/>
          </a:p>
        </p:txBody>
      </p:sp>
      <p:sp>
        <p:nvSpPr>
          <p:cNvPr id="14" name="Text 11"/>
          <p:cNvSpPr/>
          <p:nvPr/>
        </p:nvSpPr>
        <p:spPr>
          <a:xfrm>
            <a:off x="5727700" y="2255341"/>
            <a:ext cx="67052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B4046"/>
                </a:solidFill>
                <a:latin typeface="Source Sans 3" pitchFamily="34" charset="0"/>
                <a:ea typeface="Source Sans 3" pitchFamily="34" charset="-122"/>
                <a:cs typeface="Source Sans 3" pitchFamily="34" charset="-120"/>
              </a:rPr>
              <a:t>Page 5</a:t>
            </a:r>
            <a:endParaRPr lang="en-US" sz="1800" dirty="0"/>
          </a:p>
        </p:txBody>
      </p:sp>
      <p:sp>
        <p:nvSpPr>
          <p:cNvPr id="15" name="Text 12"/>
          <p:cNvSpPr/>
          <p:nvPr/>
        </p:nvSpPr>
        <p:spPr>
          <a:xfrm>
            <a:off x="1155700" y="2816622"/>
            <a:ext cx="55880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5D6570"/>
                </a:solidFill>
                <a:latin typeface="Source Sans 3" pitchFamily="34" charset="0"/>
                <a:ea typeface="Source Sans 3" pitchFamily="34" charset="-122"/>
                <a:cs typeface="Source Sans 3" pitchFamily="34" charset="-120"/>
              </a:rPr>
              <a:t>4.</a:t>
            </a:r>
            <a:endParaRPr lang="en-US" sz="1800" dirty="0"/>
          </a:p>
        </p:txBody>
      </p:sp>
      <p:sp>
        <p:nvSpPr>
          <p:cNvPr id="16" name="Text 13"/>
          <p:cNvSpPr/>
          <p:nvPr/>
        </p:nvSpPr>
        <p:spPr>
          <a:xfrm>
            <a:off x="1663700" y="2816622"/>
            <a:ext cx="418592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B4046"/>
                </a:solidFill>
                <a:latin typeface="Source Sans 3" pitchFamily="34" charset="0"/>
                <a:ea typeface="Source Sans 3" pitchFamily="34" charset="-122"/>
                <a:cs typeface="Source Sans 3" pitchFamily="34" charset="-120"/>
              </a:rPr>
              <a:t>Cost</a:t>
            </a:r>
            <a:endParaRPr lang="en-US" sz="1800" dirty="0"/>
          </a:p>
        </p:txBody>
      </p:sp>
      <p:sp>
        <p:nvSpPr>
          <p:cNvPr id="17" name="Text 14"/>
          <p:cNvSpPr/>
          <p:nvPr/>
        </p:nvSpPr>
        <p:spPr>
          <a:xfrm>
            <a:off x="5727700" y="2816622"/>
            <a:ext cx="67052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B4046"/>
                </a:solidFill>
                <a:latin typeface="Source Sans 3" pitchFamily="34" charset="0"/>
                <a:ea typeface="Source Sans 3" pitchFamily="34" charset="-122"/>
                <a:cs typeface="Source Sans 3" pitchFamily="34" charset="-120"/>
              </a:rPr>
              <a:t>Page 6</a:t>
            </a:r>
            <a:endParaRPr lang="en-US" sz="1800" dirty="0"/>
          </a:p>
        </p:txBody>
      </p:sp>
      <p:sp>
        <p:nvSpPr>
          <p:cNvPr id="18" name="Text 15"/>
          <p:cNvSpPr/>
          <p:nvPr/>
        </p:nvSpPr>
        <p:spPr>
          <a:xfrm>
            <a:off x="1155700" y="3377902"/>
            <a:ext cx="55880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5D6570"/>
                </a:solidFill>
                <a:latin typeface="Source Sans 3" pitchFamily="34" charset="0"/>
                <a:ea typeface="Source Sans 3" pitchFamily="34" charset="-122"/>
                <a:cs typeface="Source Sans 3" pitchFamily="34" charset="-120"/>
              </a:rPr>
              <a:t>5.</a:t>
            </a:r>
            <a:endParaRPr lang="en-US" sz="1800" dirty="0"/>
          </a:p>
        </p:txBody>
      </p:sp>
      <p:sp>
        <p:nvSpPr>
          <p:cNvPr id="19" name="Text 16"/>
          <p:cNvSpPr/>
          <p:nvPr/>
        </p:nvSpPr>
        <p:spPr>
          <a:xfrm>
            <a:off x="1663700" y="3377902"/>
            <a:ext cx="418592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B4046"/>
                </a:solidFill>
                <a:latin typeface="Source Sans 3" pitchFamily="34" charset="0"/>
                <a:ea typeface="Source Sans 3" pitchFamily="34" charset="-122"/>
                <a:cs typeface="Source Sans 3" pitchFamily="34" charset="-120"/>
              </a:rPr>
              <a:t>Appendix</a:t>
            </a:r>
            <a:endParaRPr lang="en-US" sz="1800" dirty="0"/>
          </a:p>
        </p:txBody>
      </p:sp>
      <p:sp>
        <p:nvSpPr>
          <p:cNvPr id="20" name="Text 17"/>
          <p:cNvSpPr/>
          <p:nvPr/>
        </p:nvSpPr>
        <p:spPr>
          <a:xfrm>
            <a:off x="5727700" y="3377902"/>
            <a:ext cx="67052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B4046"/>
                </a:solidFill>
                <a:latin typeface="Source Sans 3" pitchFamily="34" charset="0"/>
                <a:ea typeface="Source Sans 3" pitchFamily="34" charset="-122"/>
                <a:cs typeface="Source Sans 3" pitchFamily="34" charset="-120"/>
              </a:rPr>
              <a:t>Page 7</a:t>
            </a:r>
            <a:endParaRPr lang="en-US" sz="1800" dirty="0"/>
          </a:p>
        </p:txBody>
      </p:sp>
      <p:sp>
        <p:nvSpPr>
          <p:cNvPr id="21" name="Text 18"/>
          <p:cNvSpPr/>
          <p:nvPr/>
        </p:nvSpPr>
        <p:spPr>
          <a:xfrm>
            <a:off x="457200" y="6512620"/>
            <a:ext cx="26162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7F7EF"/>
                </a:solidFill>
                <a:latin typeface="Source Sans 3" pitchFamily="34" charset="0"/>
                <a:ea typeface="Source Sans 3" pitchFamily="34" charset="-122"/>
                <a:cs typeface="Source Sans 3" pitchFamily="34" charset="-120"/>
              </a:rPr>
              <a:t>Confidential</a:t>
            </a:r>
            <a:endParaRPr lang="en-US" sz="1300" dirty="0"/>
          </a:p>
        </p:txBody>
      </p:sp>
      <p:sp>
        <p:nvSpPr>
          <p:cNvPr id="22" name="Text 19"/>
          <p:cNvSpPr/>
          <p:nvPr/>
        </p:nvSpPr>
        <p:spPr>
          <a:xfrm>
            <a:off x="11049000" y="6512620"/>
            <a:ext cx="6858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F7F7EF"/>
                </a:solidFill>
                <a:latin typeface="Source Sans 3" pitchFamily="34" charset="0"/>
                <a:ea typeface="Source Sans 3" pitchFamily="34" charset="-122"/>
                <a:cs typeface="Source Sans 3" pitchFamily="34" charset="-120"/>
              </a:rPr>
              <a:t>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82" r="-82" t="0" b="0"/>
          <a:stretch/>
        </p:blipFill>
        <p:spPr>
          <a:xfrm>
            <a:off x="0" y="5651500"/>
            <a:ext cx="12192000" cy="1206500"/>
          </a:xfrm>
          <a:prstGeom prst="rect">
            <a:avLst/>
          </a:prstGeom>
        </p:spPr>
      </p:pic>
      <p:sp>
        <p:nvSpPr>
          <p:cNvPr id="3" name="Text 0"/>
          <p:cNvSpPr/>
          <p:nvPr/>
        </p:nvSpPr>
        <p:spPr>
          <a:xfrm>
            <a:off x="457200" y="228600"/>
            <a:ext cx="11615928" cy="429716"/>
          </a:xfrm>
          <a:prstGeom prst="rect">
            <a:avLst/>
          </a:prstGeom>
          <a:noFill/>
          <a:ln/>
        </p:spPr>
        <p:txBody>
          <a:bodyPr wrap="square" lIns="0" tIns="0" rIns="0" bIns="0" rtlCol="0" anchor="t">
            <a:normAutofit/>
          </a:bodyPr>
          <a:lstStyle/>
          <a:p>
            <a:pPr algn="l" indent="0" marL="0">
              <a:lnSpc>
                <a:spcPts val="3220"/>
              </a:lnSpc>
              <a:buNone/>
            </a:pPr>
            <a:r>
              <a:rPr lang="en-US" sz="2800" dirty="0">
                <a:solidFill>
                  <a:srgbClr val="3B4046"/>
                </a:solidFill>
                <a:latin typeface="Source Sans 3" pitchFamily="34" charset="0"/>
                <a:ea typeface="Source Sans 3" pitchFamily="34" charset="-122"/>
                <a:cs typeface="Source Sans 3" pitchFamily="34" charset="-120"/>
              </a:rPr>
              <a:t>Overview</a:t>
            </a:r>
            <a:endParaRPr lang="en-US" sz="2800" dirty="0"/>
          </a:p>
        </p:txBody>
      </p:sp>
      <p:sp>
        <p:nvSpPr>
          <p:cNvPr id="4" name="Shape 1"/>
          <p:cNvSpPr/>
          <p:nvPr/>
        </p:nvSpPr>
        <p:spPr>
          <a:xfrm>
            <a:off x="457200" y="836116"/>
            <a:ext cx="11277600" cy="19050"/>
          </a:xfrm>
          <a:prstGeom prst="rect">
            <a:avLst/>
          </a:prstGeom>
          <a:solidFill>
            <a:srgbClr val="5F7F9C"/>
          </a:solidFill>
          <a:ln/>
        </p:spPr>
      </p:sp>
      <p:sp>
        <p:nvSpPr>
          <p:cNvPr id="5" name="Shape 2"/>
          <p:cNvSpPr/>
          <p:nvPr/>
        </p:nvSpPr>
        <p:spPr>
          <a:xfrm>
            <a:off x="457200" y="855166"/>
            <a:ext cx="11277600" cy="19050"/>
          </a:xfrm>
          <a:prstGeom prst="rect">
            <a:avLst/>
          </a:prstGeom>
          <a:solidFill>
            <a:srgbClr val="A9B53A"/>
          </a:solidFill>
          <a:ln/>
        </p:spPr>
      </p:sp>
      <p:sp>
        <p:nvSpPr>
          <p:cNvPr id="6" name="Shape 3"/>
          <p:cNvSpPr/>
          <p:nvPr/>
        </p:nvSpPr>
        <p:spPr>
          <a:xfrm>
            <a:off x="609600" y="1356023"/>
            <a:ext cx="5308600" cy="0"/>
          </a:xfrm>
          <a:prstGeom prst="line">
            <a:avLst/>
          </a:prstGeom>
          <a:noFill/>
          <a:ln w="6350">
            <a:solidFill>
              <a:srgbClr val="8A8F94"/>
            </a:solidFill>
            <a:prstDash val="solid"/>
          </a:ln>
        </p:spPr>
      </p:sp>
      <p:pic>
        <p:nvPicPr>
          <p:cNvPr id="7" name="Image 1" descr="Cloud">    </p:cNvPr>
          <p:cNvPicPr>
            <a:picLocks noChangeAspect="1"/>
          </p:cNvPicPr>
          <p:nvPr/>
        </p:nvPicPr>
        <p:blipFill>
          <a:blip r:embed="rId2"/>
          <a:srcRect l="0" r="0" t="0" b="0"/>
          <a:stretch/>
        </p:blipFill>
        <p:spPr>
          <a:xfrm>
            <a:off x="609600" y="1024434"/>
            <a:ext cx="304800" cy="304800"/>
          </a:xfrm>
          <a:prstGeom prst="rect">
            <a:avLst/>
          </a:prstGeom>
        </p:spPr>
      </p:pic>
      <p:sp>
        <p:nvSpPr>
          <p:cNvPr id="8" name="Text 4"/>
          <p:cNvSpPr/>
          <p:nvPr/>
        </p:nvSpPr>
        <p:spPr>
          <a:xfrm>
            <a:off x="994029" y="1024434"/>
            <a:ext cx="4996942" cy="330200"/>
          </a:xfrm>
          <a:prstGeom prst="rect">
            <a:avLst/>
          </a:prstGeom>
          <a:noFill/>
          <a:ln/>
        </p:spPr>
        <p:txBody>
          <a:bodyPr wrap="square" lIns="0" tIns="0" rIns="0" bIns="0" rtlCol="0" anchor="t">
            <a:normAutofit/>
          </a:bodyPr>
          <a:lstStyle/>
          <a:p>
            <a:pPr algn="ctr" indent="0" marL="0">
              <a:lnSpc>
                <a:spcPts val="2400"/>
              </a:lnSpc>
              <a:buNone/>
            </a:pPr>
            <a:r>
              <a:rPr lang="en-US" sz="2000" dirty="0">
                <a:solidFill>
                  <a:srgbClr val="3B4046"/>
                </a:solidFill>
                <a:latin typeface="Source Sans 3" pitchFamily="34" charset="0"/>
                <a:ea typeface="Source Sans 3" pitchFamily="34" charset="-122"/>
                <a:cs typeface="Source Sans 3" pitchFamily="34" charset="-120"/>
              </a:rPr>
              <a:t>Snowflake</a:t>
            </a:r>
            <a:endParaRPr lang="en-US" sz="2000" dirty="0"/>
          </a:p>
        </p:txBody>
      </p:sp>
      <p:sp>
        <p:nvSpPr>
          <p:cNvPr id="9" name="Text 5"/>
          <p:cNvSpPr/>
          <p:nvPr/>
        </p:nvSpPr>
        <p:spPr>
          <a:xfrm>
            <a:off x="609600" y="1397298"/>
            <a:ext cx="5467858" cy="198537"/>
          </a:xfrm>
          <a:prstGeom prst="rect">
            <a:avLst/>
          </a:prstGeom>
          <a:noFill/>
          <a:ln/>
        </p:spPr>
        <p:txBody>
          <a:bodyPr wrap="square" lIns="0" tIns="0" rIns="0" bIns="0" rtlCol="0" anchor="t">
            <a:normAutofit/>
          </a:bodyPr>
          <a:lstStyle/>
          <a:p>
            <a:pPr algn="l" indent="0" marL="0">
              <a:lnSpc>
                <a:spcPts val="1371"/>
              </a:lnSpc>
              <a:buNone/>
            </a:pPr>
            <a:r>
              <a:rPr lang="en-US" sz="1193" b="1" dirty="0">
                <a:solidFill>
                  <a:srgbClr val="2E5D8C"/>
                </a:solidFill>
                <a:latin typeface="Source Sans 3" pitchFamily="34" charset="0"/>
                <a:ea typeface="Source Sans 3" pitchFamily="34" charset="-122"/>
                <a:cs typeface="Source Sans 3" pitchFamily="34" charset="-120"/>
              </a:rPr>
              <a:t>Snowflake</a:t>
            </a:r>
            <a:endParaRPr lang="en-US" sz="1193" dirty="0"/>
          </a:p>
        </p:txBody>
      </p:sp>
      <p:sp>
        <p:nvSpPr>
          <p:cNvPr id="10" name="Text 6"/>
          <p:cNvSpPr/>
          <p:nvPr/>
        </p:nvSpPr>
        <p:spPr>
          <a:xfrm>
            <a:off x="644963" y="1608534"/>
            <a:ext cx="5426780" cy="1410494"/>
          </a:xfrm>
          <a:prstGeom prst="rect">
            <a:avLst/>
          </a:prstGeom>
          <a:noFill/>
          <a:ln/>
        </p:spPr>
        <p:txBody>
          <a:bodyPr wrap="square" lIns="0" tIns="0" rIns="0" bIns="0" rtlCol="0" anchor="t">
            <a:normAutofit/>
          </a:bodyPr>
          <a:lstStyle/>
          <a:p>
            <a:pPr algn="l" marL="155137" indent="-155137">
              <a:lnSpc>
                <a:spcPts val="1371"/>
              </a:lnSpc>
              <a:buSzPct val="100000"/>
              <a:buChar char="•"/>
            </a:pPr>
            <a:r>
              <a:rPr lang="en-US" sz="1193" dirty="0">
                <a:solidFill>
                  <a:srgbClr val="3B4046"/>
                </a:solidFill>
                <a:latin typeface="Source Sans 3" pitchFamily="34" charset="0"/>
                <a:ea typeface="Source Sans 3" pitchFamily="34" charset="-122"/>
                <a:cs typeface="Source Sans 3" pitchFamily="34" charset="-120"/>
              </a:rPr>
              <a:t>Snowflake is a Software-as-a-Service (SaaS) that runs completely on cloud infrastructure of your choosing (Amazon Web Services, Azure, Google Cloud Platform). No software or infrastructure to install, configure, manage, update, etc.</a:t>
            </a:r>
            <a:endParaRPr lang="en-US" sz="1193" dirty="0"/>
          </a:p>
          <a:p>
            <a:pPr algn="l" marL="155137" indent="-155137">
              <a:lnSpc>
                <a:spcPts val="1371"/>
              </a:lnSpc>
              <a:buSzPct val="100000"/>
              <a:buChar char="•"/>
            </a:pPr>
            <a:r>
              <a:rPr lang="en-US" sz="1193" dirty="0">
                <a:solidFill>
                  <a:srgbClr val="3B4046"/>
                </a:solidFill>
                <a:latin typeface="Source Sans 3" pitchFamily="34" charset="0"/>
                <a:ea typeface="Source Sans 3" pitchFamily="34" charset="-122"/>
                <a:cs typeface="Source Sans 3" pitchFamily="34" charset="-120"/>
              </a:rPr>
              <a:t>All three layers of Snowflake’s architecture (storage, compute, and cloud services) are deployed and managed entirely on a selected cloud platform.</a:t>
            </a:r>
            <a:endParaRPr lang="en-US" sz="1193" dirty="0"/>
          </a:p>
          <a:p>
            <a:pPr algn="l" marL="155137" indent="-155137">
              <a:lnSpc>
                <a:spcPts val="1371"/>
              </a:lnSpc>
              <a:buSzPct val="100000"/>
              <a:buChar char="•"/>
            </a:pPr>
            <a:r>
              <a:rPr lang="en-US" sz="1193" dirty="0">
                <a:solidFill>
                  <a:srgbClr val="3B4046"/>
                </a:solidFill>
                <a:latin typeface="Source Sans 3" pitchFamily="34" charset="0"/>
                <a:ea typeface="Source Sans 3" pitchFamily="34" charset="-122"/>
                <a:cs typeface="Source Sans 3" pitchFamily="34" charset="-120"/>
              </a:rPr>
              <a:t>Pay only for what you use and know how much you’ll spend with predictable monthly costs.</a:t>
            </a:r>
            <a:endParaRPr lang="en-US" sz="1193" dirty="0"/>
          </a:p>
        </p:txBody>
      </p:sp>
      <p:sp>
        <p:nvSpPr>
          <p:cNvPr id="11" name="Text 7"/>
          <p:cNvSpPr/>
          <p:nvPr/>
        </p:nvSpPr>
        <p:spPr>
          <a:xfrm>
            <a:off x="609600" y="3031728"/>
            <a:ext cx="5467858" cy="198537"/>
          </a:xfrm>
          <a:prstGeom prst="rect">
            <a:avLst/>
          </a:prstGeom>
          <a:noFill/>
          <a:ln/>
        </p:spPr>
        <p:txBody>
          <a:bodyPr wrap="square" lIns="0" tIns="0" rIns="0" bIns="0" rtlCol="0" anchor="t">
            <a:normAutofit/>
          </a:bodyPr>
          <a:lstStyle/>
          <a:p>
            <a:pPr algn="l" indent="0" marL="0">
              <a:lnSpc>
                <a:spcPts val="1371"/>
              </a:lnSpc>
              <a:buNone/>
            </a:pPr>
            <a:r>
              <a:rPr lang="en-US" sz="1193" b="1" dirty="0">
                <a:solidFill>
                  <a:srgbClr val="2E5D8C"/>
                </a:solidFill>
                <a:latin typeface="Source Sans 3" pitchFamily="34" charset="0"/>
                <a:ea typeface="Source Sans 3" pitchFamily="34" charset="-122"/>
                <a:cs typeface="Source Sans 3" pitchFamily="34" charset="-120"/>
              </a:rPr>
              <a:t>Compute Differences</a:t>
            </a:r>
            <a:endParaRPr lang="en-US" sz="1193" dirty="0"/>
          </a:p>
        </p:txBody>
      </p:sp>
      <p:sp>
        <p:nvSpPr>
          <p:cNvPr id="12" name="Text 8"/>
          <p:cNvSpPr/>
          <p:nvPr/>
        </p:nvSpPr>
        <p:spPr>
          <a:xfrm>
            <a:off x="644992" y="3242965"/>
            <a:ext cx="5426751" cy="1237357"/>
          </a:xfrm>
          <a:prstGeom prst="rect">
            <a:avLst/>
          </a:prstGeom>
          <a:noFill/>
          <a:ln/>
        </p:spPr>
        <p:txBody>
          <a:bodyPr wrap="square" lIns="0" tIns="0" rIns="0" bIns="0" rtlCol="0" anchor="t">
            <a:normAutofit/>
          </a:bodyPr>
          <a:lstStyle/>
          <a:p>
            <a:pPr algn="l" marL="155108" indent="-155108">
              <a:lnSpc>
                <a:spcPts val="1367"/>
              </a:lnSpc>
              <a:buSzPct val="100000"/>
              <a:buChar char="•"/>
            </a:pPr>
            <a:r>
              <a:rPr lang="en-US" sz="1189" b="1" dirty="0">
                <a:solidFill>
                  <a:srgbClr val="3B4046"/>
                </a:solidFill>
                <a:latin typeface="Source Sans 3" pitchFamily="34" charset="0"/>
                <a:ea typeface="Source Sans 3" pitchFamily="34" charset="-122"/>
                <a:cs typeface="Source Sans 3" pitchFamily="34" charset="-120"/>
              </a:rPr>
              <a:t>Compute and storage are separated which means you can add more compute for different types of workloads. This allows you to pay for compute and storage separately.</a:t>
            </a:r>
            <a:endParaRPr lang="en-US" sz="1189" dirty="0"/>
          </a:p>
          <a:p>
            <a:pPr algn="l" marL="155108" indent="-155108">
              <a:lnSpc>
                <a:spcPts val="1367"/>
              </a:lnSpc>
              <a:buSzPct val="100000"/>
              <a:buChar char="•"/>
            </a:pPr>
            <a:r>
              <a:rPr lang="en-US" sz="1189" b="1" dirty="0">
                <a:solidFill>
                  <a:srgbClr val="3B4046"/>
                </a:solidFill>
                <a:latin typeface="Source Sans 3" pitchFamily="34" charset="0"/>
                <a:ea typeface="Source Sans 3" pitchFamily="34" charset="-122"/>
                <a:cs typeface="Source Sans 3" pitchFamily="34" charset="-120"/>
              </a:rPr>
              <a:t>Easily scale up and scale down, and automatically scales out and scales in to handle peak loads and concurrency. With Snowflake, switching data warehouse compute capacity is a matter of seconds, and since compute and storage are separate, there is no need to copy any data to scale up and down.</a:t>
            </a:r>
            <a:endParaRPr lang="en-US" sz="1189" dirty="0"/>
          </a:p>
        </p:txBody>
      </p:sp>
      <p:sp>
        <p:nvSpPr>
          <p:cNvPr id="13" name="Text 9"/>
          <p:cNvSpPr/>
          <p:nvPr/>
        </p:nvSpPr>
        <p:spPr>
          <a:xfrm>
            <a:off x="609600" y="4493022"/>
            <a:ext cx="5467858" cy="198537"/>
          </a:xfrm>
          <a:prstGeom prst="rect">
            <a:avLst/>
          </a:prstGeom>
          <a:noFill/>
          <a:ln/>
        </p:spPr>
        <p:txBody>
          <a:bodyPr wrap="square" lIns="0" tIns="0" rIns="0" bIns="0" rtlCol="0" anchor="t">
            <a:normAutofit/>
          </a:bodyPr>
          <a:lstStyle/>
          <a:p>
            <a:pPr algn="l" indent="0" marL="0">
              <a:lnSpc>
                <a:spcPts val="1371"/>
              </a:lnSpc>
              <a:buNone/>
            </a:pPr>
            <a:r>
              <a:rPr lang="en-US" sz="1193" b="1" dirty="0">
                <a:solidFill>
                  <a:srgbClr val="2E5D8C"/>
                </a:solidFill>
                <a:latin typeface="Source Sans 3" pitchFamily="34" charset="0"/>
                <a:ea typeface="Source Sans 3" pitchFamily="34" charset="-122"/>
                <a:cs typeface="Source Sans 3" pitchFamily="34" charset="-120"/>
              </a:rPr>
              <a:t>Database Differences</a:t>
            </a:r>
            <a:endParaRPr lang="en-US" sz="1193" dirty="0"/>
          </a:p>
        </p:txBody>
      </p:sp>
      <p:sp>
        <p:nvSpPr>
          <p:cNvPr id="14" name="Text 10"/>
          <p:cNvSpPr/>
          <p:nvPr/>
        </p:nvSpPr>
        <p:spPr>
          <a:xfrm>
            <a:off x="645020" y="4704259"/>
            <a:ext cx="5426723" cy="891084"/>
          </a:xfrm>
          <a:prstGeom prst="rect">
            <a:avLst/>
          </a:prstGeom>
          <a:noFill/>
          <a:ln/>
        </p:spPr>
        <p:txBody>
          <a:bodyPr wrap="square" lIns="0" tIns="0" rIns="0" bIns="0" rtlCol="0" anchor="t">
            <a:normAutofit/>
          </a:bodyPr>
          <a:lstStyle/>
          <a:p>
            <a:pPr algn="l" marL="155080" indent="-155080">
              <a:lnSpc>
                <a:spcPts val="1363"/>
              </a:lnSpc>
              <a:buSzPct val="100000"/>
              <a:buChar char="•"/>
            </a:pPr>
            <a:r>
              <a:rPr lang="en-US" sz="1185" b="1" dirty="0">
                <a:solidFill>
                  <a:srgbClr val="3B4046"/>
                </a:solidFill>
                <a:latin typeface="Source Sans 3" pitchFamily="34" charset="0"/>
                <a:ea typeface="Source Sans 3" pitchFamily="34" charset="-122"/>
                <a:cs typeface="Source Sans 3" pitchFamily="34" charset="-120"/>
              </a:rPr>
              <a:t>Snowflake supports semi-structured data types so you can load data without worrying about the schema.</a:t>
            </a:r>
            <a:endParaRPr lang="en-US" sz="1185" dirty="0"/>
          </a:p>
          <a:p>
            <a:pPr algn="l" marL="155080" indent="-155080">
              <a:lnSpc>
                <a:spcPts val="1363"/>
              </a:lnSpc>
              <a:buSzPct val="100000"/>
              <a:buChar char="•"/>
            </a:pPr>
            <a:r>
              <a:rPr lang="en-US" sz="1185" b="1" dirty="0">
                <a:solidFill>
                  <a:srgbClr val="3B4046"/>
                </a:solidFill>
                <a:latin typeface="Source Sans 3" pitchFamily="34" charset="0"/>
                <a:ea typeface="Source Sans 3" pitchFamily="34" charset="-122"/>
                <a:cs typeface="Source Sans 3" pitchFamily="34" charset="-120"/>
              </a:rPr>
              <a:t>String data is limited to 16MB, and there’s no performance overhead for using max size which is default size so you don’t have to choose length ahead.</a:t>
            </a:r>
            <a:endParaRPr lang="en-US" sz="1185" dirty="0"/>
          </a:p>
        </p:txBody>
      </p:sp>
      <p:sp>
        <p:nvSpPr>
          <p:cNvPr id="15" name="Text 11"/>
          <p:cNvSpPr/>
          <p:nvPr/>
        </p:nvSpPr>
        <p:spPr>
          <a:xfrm>
            <a:off x="609600" y="5608042"/>
            <a:ext cx="5467858" cy="198537"/>
          </a:xfrm>
          <a:prstGeom prst="rect">
            <a:avLst/>
          </a:prstGeom>
          <a:noFill/>
          <a:ln/>
        </p:spPr>
        <p:txBody>
          <a:bodyPr wrap="square" lIns="0" tIns="0" rIns="0" bIns="0" rtlCol="0" anchor="t">
            <a:normAutofit/>
          </a:bodyPr>
          <a:lstStyle/>
          <a:p>
            <a:pPr algn="l" indent="0" marL="0">
              <a:lnSpc>
                <a:spcPts val="1371"/>
              </a:lnSpc>
              <a:buNone/>
            </a:pPr>
            <a:r>
              <a:rPr lang="en-US" sz="1193" b="1" dirty="0">
                <a:solidFill>
                  <a:srgbClr val="2E5D8C"/>
                </a:solidFill>
                <a:latin typeface="Source Sans 3" pitchFamily="34" charset="0"/>
                <a:ea typeface="Source Sans 3" pitchFamily="34" charset="-122"/>
                <a:cs typeface="Source Sans 3" pitchFamily="34" charset="-120"/>
              </a:rPr>
              <a:t>Maintenance &amp; DevOps Differences</a:t>
            </a:r>
            <a:endParaRPr lang="en-US" sz="1193" dirty="0"/>
          </a:p>
        </p:txBody>
      </p:sp>
      <p:sp>
        <p:nvSpPr>
          <p:cNvPr id="16" name="Text 12"/>
          <p:cNvSpPr/>
          <p:nvPr/>
        </p:nvSpPr>
        <p:spPr>
          <a:xfrm>
            <a:off x="644963" y="5819279"/>
            <a:ext cx="5426780" cy="1064121"/>
          </a:xfrm>
          <a:prstGeom prst="rect">
            <a:avLst/>
          </a:prstGeom>
          <a:noFill/>
          <a:ln/>
        </p:spPr>
        <p:txBody>
          <a:bodyPr wrap="square" lIns="0" tIns="0" rIns="0" bIns="0" rtlCol="0" anchor="t">
            <a:normAutofit/>
          </a:bodyPr>
          <a:lstStyle/>
          <a:p>
            <a:pPr algn="l" marL="155137" indent="-155137">
              <a:lnSpc>
                <a:spcPts val="1371"/>
              </a:lnSpc>
              <a:buSzPct val="100000"/>
              <a:buChar char="•"/>
            </a:pPr>
            <a:r>
              <a:rPr lang="en-US" sz="1193" b="1" dirty="0">
                <a:solidFill>
                  <a:srgbClr val="3B4046"/>
                </a:solidFill>
                <a:latin typeface="Source Sans 3" pitchFamily="34" charset="0"/>
                <a:ea typeface="Source Sans 3" pitchFamily="34" charset="-122"/>
                <a:cs typeface="Source Sans 3" pitchFamily="34" charset="-120"/>
              </a:rPr>
              <a:t>Snowflake manages vacuum/analyze tables for you.</a:t>
            </a:r>
            <a:endParaRPr lang="en-US" sz="1193" dirty="0"/>
          </a:p>
          <a:p>
            <a:pPr algn="l" marL="155137" indent="-155137">
              <a:lnSpc>
                <a:spcPts val="1371"/>
              </a:lnSpc>
              <a:buSzPct val="100000"/>
              <a:buChar char="•"/>
            </a:pPr>
            <a:r>
              <a:rPr lang="en-US" sz="1193" b="1" dirty="0">
                <a:solidFill>
                  <a:srgbClr val="3B4046"/>
                </a:solidFill>
                <a:latin typeface="Source Sans 3" pitchFamily="34" charset="0"/>
                <a:ea typeface="Source Sans 3" pitchFamily="34" charset="-122"/>
                <a:cs typeface="Source Sans 3" pitchFamily="34" charset="-120"/>
              </a:rPr>
              <a:t>Snowflake distributes table data for you so no need to worry about distribution and sort keys.</a:t>
            </a:r>
            <a:endParaRPr lang="en-US" sz="1193" dirty="0"/>
          </a:p>
          <a:p>
            <a:pPr algn="l" marL="155137" indent="-155137">
              <a:lnSpc>
                <a:spcPts val="1371"/>
              </a:lnSpc>
              <a:buSzPct val="100000"/>
              <a:buChar char="•"/>
            </a:pPr>
            <a:r>
              <a:rPr lang="en-US" sz="1193" b="1" dirty="0">
                <a:solidFill>
                  <a:srgbClr val="3B4046"/>
                </a:solidFill>
                <a:latin typeface="Source Sans 3" pitchFamily="34" charset="0"/>
                <a:ea typeface="Source Sans 3" pitchFamily="34" charset="-122"/>
                <a:cs typeface="Source Sans 3" pitchFamily="34" charset="-120"/>
              </a:rPr>
              <a:t>Snowflake, you can simply start different warehouses of different sizes that look at the same data, without copying any data, and allocate them to different tasks / users.</a:t>
            </a:r>
            <a:endParaRPr lang="en-US" sz="1193" dirty="0"/>
          </a:p>
        </p:txBody>
      </p:sp>
      <p:sp>
        <p:nvSpPr>
          <p:cNvPr id="17" name="Shape 13"/>
          <p:cNvSpPr/>
          <p:nvPr/>
        </p:nvSpPr>
        <p:spPr>
          <a:xfrm>
            <a:off x="6273800" y="1359595"/>
            <a:ext cx="5308600" cy="0"/>
          </a:xfrm>
          <a:prstGeom prst="line">
            <a:avLst/>
          </a:prstGeom>
          <a:noFill/>
          <a:ln w="6350">
            <a:solidFill>
              <a:srgbClr val="8A8F94"/>
            </a:solidFill>
            <a:prstDash val="solid"/>
          </a:ln>
        </p:spPr>
      </p:sp>
      <p:pic>
        <p:nvPicPr>
          <p:cNvPr id="18" name="Image 2" descr="Database">    </p:cNvPr>
          <p:cNvPicPr>
            <a:picLocks noChangeAspect="1"/>
          </p:cNvPicPr>
          <p:nvPr/>
        </p:nvPicPr>
        <p:blipFill>
          <a:blip r:embed="rId3"/>
          <a:srcRect l="0" r="0" t="0" b="0"/>
          <a:stretch/>
        </p:blipFill>
        <p:spPr>
          <a:xfrm>
            <a:off x="6273800" y="1026220"/>
            <a:ext cx="304800" cy="304800"/>
          </a:xfrm>
          <a:prstGeom prst="rect">
            <a:avLst/>
          </a:prstGeom>
        </p:spPr>
      </p:pic>
      <p:sp>
        <p:nvSpPr>
          <p:cNvPr id="19" name="Text 14"/>
          <p:cNvSpPr/>
          <p:nvPr/>
        </p:nvSpPr>
        <p:spPr>
          <a:xfrm>
            <a:off x="6658229" y="1026220"/>
            <a:ext cx="4996942" cy="330200"/>
          </a:xfrm>
          <a:prstGeom prst="rect">
            <a:avLst/>
          </a:prstGeom>
          <a:noFill/>
          <a:ln/>
        </p:spPr>
        <p:txBody>
          <a:bodyPr wrap="square" lIns="0" tIns="0" rIns="0" bIns="0" rtlCol="0" anchor="t">
            <a:normAutofit/>
          </a:bodyPr>
          <a:lstStyle/>
          <a:p>
            <a:pPr algn="ctr" indent="0" marL="0">
              <a:lnSpc>
                <a:spcPts val="2400"/>
              </a:lnSpc>
              <a:buNone/>
            </a:pPr>
            <a:r>
              <a:rPr lang="en-US" sz="2000" dirty="0">
                <a:solidFill>
                  <a:srgbClr val="3B4046"/>
                </a:solidFill>
                <a:latin typeface="Source Sans 3" pitchFamily="34" charset="0"/>
                <a:ea typeface="Source Sans 3" pitchFamily="34" charset="-122"/>
                <a:cs typeface="Source Sans 3" pitchFamily="34" charset="-120"/>
              </a:rPr>
              <a:t>AWS Redshift</a:t>
            </a:r>
            <a:endParaRPr lang="en-US" sz="2000" dirty="0"/>
          </a:p>
        </p:txBody>
      </p:sp>
      <p:sp>
        <p:nvSpPr>
          <p:cNvPr id="20" name="Text 15"/>
          <p:cNvSpPr/>
          <p:nvPr/>
        </p:nvSpPr>
        <p:spPr>
          <a:xfrm>
            <a:off x="6273800" y="1400870"/>
            <a:ext cx="5467858"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2E5D8C"/>
                </a:solidFill>
                <a:latin typeface="Source Sans 3" pitchFamily="34" charset="0"/>
                <a:ea typeface="Source Sans 3" pitchFamily="34" charset="-122"/>
                <a:cs typeface="Source Sans 3" pitchFamily="34" charset="-120"/>
              </a:rPr>
              <a:t>AWS Redshift</a:t>
            </a:r>
            <a:endParaRPr lang="en-US" sz="1200" dirty="0"/>
          </a:p>
        </p:txBody>
      </p:sp>
      <p:sp>
        <p:nvSpPr>
          <p:cNvPr id="21" name="Text 16"/>
          <p:cNvSpPr/>
          <p:nvPr/>
        </p:nvSpPr>
        <p:spPr>
          <a:xfrm>
            <a:off x="6309106" y="1614190"/>
            <a:ext cx="5426837" cy="1251942"/>
          </a:xfrm>
          <a:prstGeom prst="rect">
            <a:avLst/>
          </a:prstGeom>
          <a:noFill/>
          <a:ln/>
        </p:spPr>
        <p:txBody>
          <a:bodyPr wrap="square" lIns="0" tIns="0" rIns="0" bIns="0" rtlCol="0" anchor="t">
            <a:normAutofit/>
          </a:bodyPr>
          <a:lstStyle/>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Amazon Redshift is a fully managed data warehouse service in the cloud, but in this context fully managed means we do not have to worry about monitoring, troubleshooting, updating software, etc.</a:t>
            </a:r>
            <a:endParaRPr lang="en-US" sz="1200" dirty="0"/>
          </a:p>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There are activities related to data architecture and data manipulation, that still require developer involvement.</a:t>
            </a:r>
            <a:endParaRPr lang="en-US" sz="1200" dirty="0"/>
          </a:p>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Pay only for what you use and know how much you’ll spend with predictable monthly costs.</a:t>
            </a:r>
            <a:endParaRPr lang="en-US" sz="1200" dirty="0"/>
          </a:p>
        </p:txBody>
      </p:sp>
      <p:sp>
        <p:nvSpPr>
          <p:cNvPr id="22" name="Text 17"/>
          <p:cNvSpPr/>
          <p:nvPr/>
        </p:nvSpPr>
        <p:spPr>
          <a:xfrm>
            <a:off x="6273800" y="2878832"/>
            <a:ext cx="5467858"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2E5D8C"/>
                </a:solidFill>
                <a:latin typeface="Source Sans 3" pitchFamily="34" charset="0"/>
                <a:ea typeface="Source Sans 3" pitchFamily="34" charset="-122"/>
                <a:cs typeface="Source Sans 3" pitchFamily="34" charset="-120"/>
              </a:rPr>
              <a:t>Compute Differences</a:t>
            </a:r>
            <a:endParaRPr lang="en-US" sz="1200" dirty="0"/>
          </a:p>
        </p:txBody>
      </p:sp>
      <p:sp>
        <p:nvSpPr>
          <p:cNvPr id="23" name="Text 18"/>
          <p:cNvSpPr/>
          <p:nvPr/>
        </p:nvSpPr>
        <p:spPr>
          <a:xfrm>
            <a:off x="6309106" y="3092152"/>
            <a:ext cx="5426837" cy="1251942"/>
          </a:xfrm>
          <a:prstGeom prst="rect">
            <a:avLst/>
          </a:prstGeom>
          <a:noFill/>
          <a:ln/>
        </p:spPr>
        <p:txBody>
          <a:bodyPr wrap="square" lIns="0" tIns="0" rIns="0" bIns="0" rtlCol="0" anchor="t">
            <a:normAutofit/>
          </a:bodyPr>
          <a:lstStyle/>
          <a:p>
            <a:pPr algn="l" marL="155194" indent="-155194">
              <a:lnSpc>
                <a:spcPts val="1380"/>
              </a:lnSpc>
              <a:buSzPct val="100000"/>
              <a:buChar char="•"/>
            </a:pPr>
            <a:r>
              <a:rPr lang="en-US" sz="1200" b="1" dirty="0">
                <a:solidFill>
                  <a:srgbClr val="3B4046"/>
                </a:solidFill>
                <a:latin typeface="Source Sans 3" pitchFamily="34" charset="0"/>
                <a:ea typeface="Source Sans 3" pitchFamily="34" charset="-122"/>
                <a:cs typeface="Source Sans 3" pitchFamily="34" charset="-120"/>
              </a:rPr>
              <a:t>Compute and storage are not separated on the lower tiers of compute. If you need more storage, you have to add more compute nodes to the cluster. To get compute and storage separated you have to go to the most expensive node type (ra3.16xlarge).</a:t>
            </a:r>
            <a:endParaRPr lang="en-US" sz="1200" dirty="0"/>
          </a:p>
          <a:p>
            <a:pPr algn="l" marL="155194" indent="-155194">
              <a:lnSpc>
                <a:spcPts val="1380"/>
              </a:lnSpc>
              <a:buSzPct val="100000"/>
              <a:buChar char="•"/>
            </a:pPr>
            <a:r>
              <a:rPr lang="en-US" sz="1200" b="1" dirty="0">
                <a:solidFill>
                  <a:srgbClr val="3B4046"/>
                </a:solidFill>
                <a:latin typeface="Source Sans 3" pitchFamily="34" charset="0"/>
                <a:ea typeface="Source Sans 3" pitchFamily="34" charset="-122"/>
                <a:cs typeface="Source Sans 3" pitchFamily="34" charset="-120"/>
              </a:rPr>
              <a:t>Does not easily scale up and scale down. Requires you to maintain a large cluster that is appropriate to your peak load. The Resize operation of Redshift is extremely expensive and triggers hours of downtime.</a:t>
            </a:r>
            <a:endParaRPr lang="en-US" sz="1200" dirty="0"/>
          </a:p>
        </p:txBody>
      </p:sp>
      <p:sp>
        <p:nvSpPr>
          <p:cNvPr id="24" name="Text 19"/>
          <p:cNvSpPr/>
          <p:nvPr/>
        </p:nvSpPr>
        <p:spPr>
          <a:xfrm>
            <a:off x="6273800" y="4356795"/>
            <a:ext cx="5467858"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2E5D8C"/>
                </a:solidFill>
                <a:latin typeface="Source Sans 3" pitchFamily="34" charset="0"/>
                <a:ea typeface="Source Sans 3" pitchFamily="34" charset="-122"/>
                <a:cs typeface="Source Sans 3" pitchFamily="34" charset="-120"/>
              </a:rPr>
              <a:t>Database Differences</a:t>
            </a:r>
            <a:endParaRPr lang="en-US" sz="1200" dirty="0"/>
          </a:p>
        </p:txBody>
      </p:sp>
      <p:sp>
        <p:nvSpPr>
          <p:cNvPr id="25" name="Text 20"/>
          <p:cNvSpPr/>
          <p:nvPr/>
        </p:nvSpPr>
        <p:spPr>
          <a:xfrm>
            <a:off x="6309106" y="4570115"/>
            <a:ext cx="5426837" cy="551061"/>
          </a:xfrm>
          <a:prstGeom prst="rect">
            <a:avLst/>
          </a:prstGeom>
          <a:noFill/>
          <a:ln/>
        </p:spPr>
        <p:txBody>
          <a:bodyPr wrap="square" lIns="0" tIns="0" rIns="0" bIns="0" rtlCol="0" anchor="t">
            <a:normAutofit/>
          </a:bodyPr>
          <a:lstStyle/>
          <a:p>
            <a:pPr algn="l" marL="155194" indent="-155194">
              <a:lnSpc>
                <a:spcPts val="1380"/>
              </a:lnSpc>
              <a:buSzPct val="100000"/>
              <a:buChar char="•"/>
            </a:pPr>
            <a:r>
              <a:rPr lang="en-US" sz="1200" b="1" dirty="0">
                <a:solidFill>
                  <a:srgbClr val="3B4046"/>
                </a:solidFill>
                <a:latin typeface="Source Sans 3" pitchFamily="34" charset="0"/>
                <a:ea typeface="Source Sans 3" pitchFamily="34" charset="-122"/>
                <a:cs typeface="Source Sans 3" pitchFamily="34" charset="-120"/>
              </a:rPr>
              <a:t>Redshift does not support semi-structured data types.</a:t>
            </a:r>
            <a:endParaRPr lang="en-US" sz="1200" dirty="0"/>
          </a:p>
          <a:p>
            <a:pPr algn="l" marL="155194" indent="-155194">
              <a:lnSpc>
                <a:spcPts val="1380"/>
              </a:lnSpc>
              <a:buSzPct val="100000"/>
              <a:buChar char="•"/>
            </a:pPr>
            <a:r>
              <a:rPr lang="en-US" sz="1200" b="1" dirty="0">
                <a:solidFill>
                  <a:srgbClr val="3B4046"/>
                </a:solidFill>
                <a:latin typeface="Source Sans 3" pitchFamily="34" charset="0"/>
                <a:ea typeface="Source Sans 3" pitchFamily="34" charset="-122"/>
                <a:cs typeface="Source Sans 3" pitchFamily="34" charset="-120"/>
              </a:rPr>
              <a:t>String data (varchar) is limited to 65535 characters, you must choose the length ahead, and it is bad practice to use max size.</a:t>
            </a:r>
            <a:endParaRPr lang="en-US" sz="1200" dirty="0"/>
          </a:p>
        </p:txBody>
      </p:sp>
      <p:sp>
        <p:nvSpPr>
          <p:cNvPr id="26" name="Text 21"/>
          <p:cNvSpPr/>
          <p:nvPr/>
        </p:nvSpPr>
        <p:spPr>
          <a:xfrm>
            <a:off x="6273800" y="5133876"/>
            <a:ext cx="5467858"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2E5D8C"/>
                </a:solidFill>
                <a:latin typeface="Source Sans 3" pitchFamily="34" charset="0"/>
                <a:ea typeface="Source Sans 3" pitchFamily="34" charset="-122"/>
                <a:cs typeface="Source Sans 3" pitchFamily="34" charset="-120"/>
              </a:rPr>
              <a:t>Maintenance &amp; DevOps Differences</a:t>
            </a:r>
            <a:endParaRPr lang="en-US" sz="1200" dirty="0"/>
          </a:p>
        </p:txBody>
      </p:sp>
      <p:sp>
        <p:nvSpPr>
          <p:cNvPr id="27" name="Text 22"/>
          <p:cNvSpPr/>
          <p:nvPr/>
        </p:nvSpPr>
        <p:spPr>
          <a:xfrm>
            <a:off x="6309106" y="5347196"/>
            <a:ext cx="5426837" cy="1076722"/>
          </a:xfrm>
          <a:prstGeom prst="rect">
            <a:avLst/>
          </a:prstGeom>
          <a:noFill/>
          <a:ln/>
        </p:spPr>
        <p:txBody>
          <a:bodyPr wrap="square" lIns="0" tIns="0" rIns="0" bIns="0" rtlCol="0" anchor="t">
            <a:normAutofit/>
          </a:bodyPr>
          <a:lstStyle/>
          <a:p>
            <a:pPr algn="l" marL="155194" indent="-155194">
              <a:lnSpc>
                <a:spcPts val="1380"/>
              </a:lnSpc>
              <a:buSzPct val="100000"/>
              <a:buChar char="•"/>
            </a:pPr>
            <a:r>
              <a:rPr lang="en-US" sz="1200" b="1" dirty="0">
                <a:solidFill>
                  <a:srgbClr val="3B4046"/>
                </a:solidFill>
                <a:latin typeface="Source Sans 3" pitchFamily="34" charset="0"/>
                <a:ea typeface="Source Sans 3" pitchFamily="34" charset="-122"/>
                <a:cs typeface="Source Sans 3" pitchFamily="34" charset="-120"/>
              </a:rPr>
              <a:t>With Redshift, you have to manage vacuum/analyze tables.</a:t>
            </a:r>
            <a:endParaRPr lang="en-US" sz="1200" dirty="0"/>
          </a:p>
          <a:p>
            <a:pPr algn="l" marL="155194" indent="-155194">
              <a:lnSpc>
                <a:spcPts val="1380"/>
              </a:lnSpc>
              <a:buSzPct val="100000"/>
              <a:buChar char="•"/>
            </a:pPr>
            <a:r>
              <a:rPr lang="en-US" sz="1200" b="1" dirty="0">
                <a:solidFill>
                  <a:srgbClr val="3B4046"/>
                </a:solidFill>
                <a:latin typeface="Source Sans 3" pitchFamily="34" charset="0"/>
                <a:ea typeface="Source Sans 3" pitchFamily="34" charset="-122"/>
                <a:cs typeface="Source Sans 3" pitchFamily="34" charset="-120"/>
              </a:rPr>
              <a:t>With Redshift, you have to define the distribution and sort keys for tables to distribute the data across the nodes accordingly.</a:t>
            </a:r>
            <a:endParaRPr lang="en-US" sz="1200" dirty="0"/>
          </a:p>
          <a:p>
            <a:pPr algn="l" marL="155194" indent="-155194">
              <a:lnSpc>
                <a:spcPts val="1380"/>
              </a:lnSpc>
              <a:buSzPct val="100000"/>
              <a:buChar char="•"/>
            </a:pPr>
            <a:r>
              <a:rPr lang="en-US" sz="1200" b="1" dirty="0">
                <a:solidFill>
                  <a:srgbClr val="3B4046"/>
                </a:solidFill>
                <a:latin typeface="Source Sans 3" pitchFamily="34" charset="0"/>
                <a:ea typeface="Source Sans 3" pitchFamily="34" charset="-122"/>
                <a:cs typeface="Source Sans 3" pitchFamily="34" charset="-120"/>
              </a:rPr>
              <a:t>With Redshift, all of the users need to look at the same cluster and compete over the same resources. WLM queues are the “Redshift way” to deal with this, but it is a very cumbersome set of rules to manage and understand.</a:t>
            </a:r>
            <a:endParaRPr lang="en-US" sz="1200" dirty="0"/>
          </a:p>
        </p:txBody>
      </p:sp>
      <p:sp>
        <p:nvSpPr>
          <p:cNvPr id="28" name="Text 23"/>
          <p:cNvSpPr/>
          <p:nvPr/>
        </p:nvSpPr>
        <p:spPr>
          <a:xfrm>
            <a:off x="457200" y="6512620"/>
            <a:ext cx="26162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7F7EF"/>
                </a:solidFill>
                <a:latin typeface="Source Sans 3" pitchFamily="34" charset="0"/>
                <a:ea typeface="Source Sans 3" pitchFamily="34" charset="-122"/>
                <a:cs typeface="Source Sans 3" pitchFamily="34" charset="-120"/>
              </a:rPr>
              <a:t>Confidential</a:t>
            </a:r>
            <a:endParaRPr lang="en-US" sz="1300" dirty="0"/>
          </a:p>
        </p:txBody>
      </p:sp>
      <p:sp>
        <p:nvSpPr>
          <p:cNvPr id="29" name="Text 24"/>
          <p:cNvSpPr/>
          <p:nvPr/>
        </p:nvSpPr>
        <p:spPr>
          <a:xfrm>
            <a:off x="11049000" y="6512620"/>
            <a:ext cx="6858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F7F7EF"/>
                </a:solidFill>
                <a:latin typeface="Source Sans 3" pitchFamily="34" charset="0"/>
                <a:ea typeface="Source Sans 3" pitchFamily="34" charset="-122"/>
                <a:cs typeface="Source Sans 3" pitchFamily="34" charset="-120"/>
              </a:rPr>
              <a:t>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82" r="-82" t="0" b="0"/>
          <a:stretch/>
        </p:blipFill>
        <p:spPr>
          <a:xfrm>
            <a:off x="0" y="5651500"/>
            <a:ext cx="12192000" cy="1206500"/>
          </a:xfrm>
          <a:prstGeom prst="rect">
            <a:avLst/>
          </a:prstGeom>
        </p:spPr>
      </p:pic>
      <p:sp>
        <p:nvSpPr>
          <p:cNvPr id="3" name="Text 0"/>
          <p:cNvSpPr/>
          <p:nvPr/>
        </p:nvSpPr>
        <p:spPr>
          <a:xfrm>
            <a:off x="457200" y="228600"/>
            <a:ext cx="11615928" cy="434280"/>
          </a:xfrm>
          <a:prstGeom prst="rect">
            <a:avLst/>
          </a:prstGeom>
          <a:noFill/>
          <a:ln/>
        </p:spPr>
        <p:txBody>
          <a:bodyPr wrap="square" lIns="0" tIns="0" rIns="0" bIns="0" rtlCol="0" anchor="t">
            <a:normAutofit/>
          </a:bodyPr>
          <a:lstStyle/>
          <a:p>
            <a:pPr algn="l" indent="0" marL="0">
              <a:lnSpc>
                <a:spcPts val="3220"/>
              </a:lnSpc>
              <a:buNone/>
            </a:pPr>
            <a:r>
              <a:rPr lang="en-US" sz="2800" dirty="0">
                <a:solidFill>
                  <a:srgbClr val="3B4046"/>
                </a:solidFill>
                <a:latin typeface="Source Sans 3" pitchFamily="34" charset="0"/>
                <a:ea typeface="Source Sans 3" pitchFamily="34" charset="-122"/>
                <a:cs typeface="Source Sans 3" pitchFamily="34" charset="-120"/>
              </a:rPr>
              <a:t>Snowflake Architecture</a:t>
            </a:r>
            <a:endParaRPr lang="en-US" sz="2800" dirty="0"/>
          </a:p>
        </p:txBody>
      </p:sp>
      <p:sp>
        <p:nvSpPr>
          <p:cNvPr id="4" name="Shape 1"/>
          <p:cNvSpPr/>
          <p:nvPr/>
        </p:nvSpPr>
        <p:spPr>
          <a:xfrm>
            <a:off x="457200" y="840680"/>
            <a:ext cx="11277600" cy="19050"/>
          </a:xfrm>
          <a:prstGeom prst="rect">
            <a:avLst/>
          </a:prstGeom>
          <a:solidFill>
            <a:srgbClr val="5F7F9C"/>
          </a:solidFill>
          <a:ln/>
        </p:spPr>
      </p:sp>
      <p:sp>
        <p:nvSpPr>
          <p:cNvPr id="5" name="Shape 2"/>
          <p:cNvSpPr/>
          <p:nvPr/>
        </p:nvSpPr>
        <p:spPr>
          <a:xfrm>
            <a:off x="457200" y="859730"/>
            <a:ext cx="11277600" cy="19050"/>
          </a:xfrm>
          <a:prstGeom prst="rect">
            <a:avLst/>
          </a:prstGeom>
          <a:solidFill>
            <a:srgbClr val="A9B53A"/>
          </a:solidFill>
          <a:ln/>
        </p:spPr>
      </p:sp>
      <p:sp>
        <p:nvSpPr>
          <p:cNvPr id="6" name="Shape 3"/>
          <p:cNvSpPr/>
          <p:nvPr/>
        </p:nvSpPr>
        <p:spPr>
          <a:xfrm>
            <a:off x="463550" y="1037530"/>
            <a:ext cx="3797300" cy="5484019"/>
          </a:xfrm>
          <a:prstGeom prst="rect">
            <a:avLst/>
          </a:prstGeom>
          <a:noFill/>
          <a:ln w="12700">
            <a:solidFill>
              <a:srgbClr val="8A8F94"/>
            </a:solidFill>
            <a:prstDash val="dash"/>
          </a:ln>
        </p:spPr>
      </p:sp>
      <p:sp>
        <p:nvSpPr>
          <p:cNvPr id="7" name="Text 4"/>
          <p:cNvSpPr/>
          <p:nvPr/>
        </p:nvSpPr>
        <p:spPr>
          <a:xfrm>
            <a:off x="571500" y="1145480"/>
            <a:ext cx="36888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570"/>
                </a:solidFill>
                <a:latin typeface="Source Sans 3" pitchFamily="34" charset="0"/>
                <a:ea typeface="Source Sans 3" pitchFamily="34" charset="-122"/>
                <a:cs typeface="Source Sans 3" pitchFamily="34" charset="-120"/>
              </a:rPr>
              <a:t>VPC</a:t>
            </a:r>
            <a:endParaRPr lang="en-US" sz="1200" dirty="0"/>
          </a:p>
        </p:txBody>
      </p:sp>
      <p:sp>
        <p:nvSpPr>
          <p:cNvPr id="8" name="Shape 5"/>
          <p:cNvSpPr/>
          <p:nvPr/>
        </p:nvSpPr>
        <p:spPr>
          <a:xfrm>
            <a:off x="571500" y="1422301"/>
            <a:ext cx="3581400" cy="4325144"/>
          </a:xfrm>
          <a:prstGeom prst="roundRect">
            <a:avLst>
              <a:gd name="adj" fmla="val 8511"/>
            </a:avLst>
          </a:prstGeom>
          <a:solidFill>
            <a:srgbClr val="DBE9F2"/>
          </a:solidFill>
          <a:ln/>
        </p:spPr>
      </p:sp>
      <p:sp>
        <p:nvSpPr>
          <p:cNvPr id="9" name="Shape 6"/>
          <p:cNvSpPr/>
          <p:nvPr/>
        </p:nvSpPr>
        <p:spPr>
          <a:xfrm>
            <a:off x="723900" y="1574701"/>
            <a:ext cx="3276600" cy="1645642"/>
          </a:xfrm>
          <a:prstGeom prst="roundRect">
            <a:avLst>
              <a:gd name="adj" fmla="val 3087"/>
            </a:avLst>
          </a:prstGeom>
          <a:solidFill>
            <a:srgbClr val="1FB0C9"/>
          </a:solidFill>
          <a:ln/>
        </p:spPr>
      </p:sp>
      <p:sp>
        <p:nvSpPr>
          <p:cNvPr id="10" name="Text 7"/>
          <p:cNvSpPr/>
          <p:nvPr/>
        </p:nvSpPr>
        <p:spPr>
          <a:xfrm>
            <a:off x="825500" y="1676301"/>
            <a:ext cx="316560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Source Sans 3" pitchFamily="34" charset="0"/>
                <a:ea typeface="Source Sans 3" pitchFamily="34" charset="-122"/>
                <a:cs typeface="Source Sans 3" pitchFamily="34" charset="-120"/>
              </a:rPr>
              <a:t>Cloud services</a:t>
            </a:r>
            <a:endParaRPr lang="en-US" sz="1200" dirty="0"/>
          </a:p>
        </p:txBody>
      </p:sp>
      <p:sp>
        <p:nvSpPr>
          <p:cNvPr id="11" name="Text 8"/>
          <p:cNvSpPr/>
          <p:nvPr/>
        </p:nvSpPr>
        <p:spPr>
          <a:xfrm>
            <a:off x="831850" y="1959471"/>
            <a:ext cx="3060700" cy="281880"/>
          </a:xfrm>
          <a:prstGeom prst="rect">
            <a:avLst/>
          </a:prstGeom>
          <a:solidFill>
            <a:srgbClr val="45C4D9"/>
          </a:solidFill>
          <a:ln w="12700">
            <a:solidFill>
              <a:srgbClr val="E9F7FA"/>
            </a:solidFill>
            <a:prstDash val="solid"/>
          </a:ln>
        </p:spPr>
        <p:txBody>
          <a:bodyPr wrap="square" lIns="12954" tIns="57150" rIns="12954" bIns="31750" rtlCol="0" anchor="t">
            <a:normAutofit/>
          </a:bodyPr>
          <a:lstStyle/>
          <a:p>
            <a:pPr algn="ctr" indent="0" marL="0">
              <a:lnSpc>
                <a:spcPts val="1320"/>
              </a:lnSpc>
              <a:buNone/>
            </a:pPr>
            <a:r>
              <a:rPr lang="en-US" sz="1200" dirty="0">
                <a:solidFill>
                  <a:srgbClr val="FFFFFF"/>
                </a:solidFill>
                <a:latin typeface="Source Sans 3" pitchFamily="34" charset="0"/>
                <a:ea typeface="Source Sans 3" pitchFamily="34" charset="-122"/>
                <a:cs typeface="Source Sans 3" pitchFamily="34" charset="-120"/>
              </a:rPr>
              <a:t>Authentication &amp; access control</a:t>
            </a:r>
            <a:endParaRPr lang="en-US" sz="1200" dirty="0"/>
          </a:p>
        </p:txBody>
      </p:sp>
      <p:sp>
        <p:nvSpPr>
          <p:cNvPr id="12" name="Text 9"/>
          <p:cNvSpPr/>
          <p:nvPr/>
        </p:nvSpPr>
        <p:spPr>
          <a:xfrm>
            <a:off x="831850" y="2317552"/>
            <a:ext cx="1498600" cy="449461"/>
          </a:xfrm>
          <a:prstGeom prst="rect">
            <a:avLst/>
          </a:prstGeom>
          <a:solidFill>
            <a:srgbClr val="45C4D9"/>
          </a:solidFill>
          <a:ln w="12700">
            <a:solidFill>
              <a:srgbClr val="E9F7FA"/>
            </a:solidFill>
            <a:prstDash val="solid"/>
          </a:ln>
        </p:spPr>
        <p:txBody>
          <a:bodyPr wrap="square" lIns="31750" tIns="57150" rIns="31750" bIns="31750" rtlCol="0" anchor="t">
            <a:normAutofit/>
          </a:bodyPr>
          <a:lstStyle/>
          <a:p>
            <a:pPr algn="ctr" indent="0" marL="0">
              <a:lnSpc>
                <a:spcPts val="1320"/>
              </a:lnSpc>
              <a:buNone/>
            </a:pPr>
            <a:r>
              <a:rPr lang="en-US" sz="1200" dirty="0">
                <a:solidFill>
                  <a:srgbClr val="FFFFFF"/>
                </a:solidFill>
                <a:latin typeface="Source Sans 3" pitchFamily="34" charset="0"/>
                <a:ea typeface="Source Sans 3" pitchFamily="34" charset="-122"/>
                <a:cs typeface="Source Sans 3" pitchFamily="34" charset="-120"/>
              </a:rPr>
              <a:t>Infrastructure manager</a:t>
            </a:r>
            <a:endParaRPr lang="en-US" sz="1200" dirty="0"/>
          </a:p>
        </p:txBody>
      </p:sp>
      <p:sp>
        <p:nvSpPr>
          <p:cNvPr id="13" name="Text 10"/>
          <p:cNvSpPr/>
          <p:nvPr/>
        </p:nvSpPr>
        <p:spPr>
          <a:xfrm>
            <a:off x="2393950" y="2317552"/>
            <a:ext cx="1498600" cy="449461"/>
          </a:xfrm>
          <a:prstGeom prst="rect">
            <a:avLst/>
          </a:prstGeom>
          <a:solidFill>
            <a:srgbClr val="45C4D9"/>
          </a:solidFill>
          <a:ln w="12700">
            <a:solidFill>
              <a:srgbClr val="E9F7FA"/>
            </a:solidFill>
            <a:prstDash val="solid"/>
          </a:ln>
        </p:spPr>
        <p:txBody>
          <a:bodyPr wrap="square" lIns="31750" tIns="57150" rIns="31750" bIns="57150" rtlCol="0" anchor="t">
            <a:normAutofit/>
          </a:bodyPr>
          <a:lstStyle/>
          <a:p>
            <a:pPr algn="ctr" indent="0" marL="0">
              <a:lnSpc>
                <a:spcPts val="1320"/>
              </a:lnSpc>
              <a:buNone/>
            </a:pPr>
            <a:r>
              <a:rPr lang="en-US" sz="1200" dirty="0">
                <a:solidFill>
                  <a:srgbClr val="FFFFFF"/>
                </a:solidFill>
                <a:latin typeface="Source Sans 3" pitchFamily="34" charset="0"/>
                <a:ea typeface="Source Sans 3" pitchFamily="34" charset="-122"/>
                <a:cs typeface="Source Sans 3" pitchFamily="34" charset="-120"/>
              </a:rPr>
              <a:t>Optimizer</a:t>
            </a:r>
            <a:endParaRPr lang="en-US" sz="1200" dirty="0"/>
          </a:p>
        </p:txBody>
      </p:sp>
      <p:sp>
        <p:nvSpPr>
          <p:cNvPr id="14" name="Text 11"/>
          <p:cNvSpPr/>
          <p:nvPr/>
        </p:nvSpPr>
        <p:spPr>
          <a:xfrm>
            <a:off x="831850" y="2830513"/>
            <a:ext cx="1498600" cy="281880"/>
          </a:xfrm>
          <a:prstGeom prst="rect">
            <a:avLst/>
          </a:prstGeom>
          <a:solidFill>
            <a:srgbClr val="45C4D9"/>
          </a:solidFill>
          <a:ln w="12700">
            <a:solidFill>
              <a:srgbClr val="E9F7FA"/>
            </a:solidFill>
            <a:prstDash val="solid"/>
          </a:ln>
        </p:spPr>
        <p:txBody>
          <a:bodyPr wrap="square" lIns="31750" tIns="57150" rIns="31750" bIns="31750" rtlCol="0" anchor="t">
            <a:normAutofit/>
          </a:bodyPr>
          <a:lstStyle/>
          <a:p>
            <a:pPr algn="ctr" indent="0" marL="0">
              <a:lnSpc>
                <a:spcPts val="1320"/>
              </a:lnSpc>
              <a:buNone/>
            </a:pPr>
            <a:r>
              <a:rPr lang="en-US" sz="1200" dirty="0">
                <a:solidFill>
                  <a:srgbClr val="FFFFFF"/>
                </a:solidFill>
                <a:latin typeface="Source Sans 3" pitchFamily="34" charset="0"/>
                <a:ea typeface="Source Sans 3" pitchFamily="34" charset="-122"/>
                <a:cs typeface="Source Sans 3" pitchFamily="34" charset="-120"/>
              </a:rPr>
              <a:t>Metadata manager</a:t>
            </a:r>
            <a:endParaRPr lang="en-US" sz="1200" dirty="0"/>
          </a:p>
        </p:txBody>
      </p:sp>
      <p:sp>
        <p:nvSpPr>
          <p:cNvPr id="15" name="Text 12"/>
          <p:cNvSpPr/>
          <p:nvPr/>
        </p:nvSpPr>
        <p:spPr>
          <a:xfrm>
            <a:off x="2393950" y="2830513"/>
            <a:ext cx="1498600" cy="281880"/>
          </a:xfrm>
          <a:prstGeom prst="rect">
            <a:avLst/>
          </a:prstGeom>
          <a:solidFill>
            <a:srgbClr val="45C4D9"/>
          </a:solidFill>
          <a:ln w="12700">
            <a:solidFill>
              <a:srgbClr val="E9F7FA"/>
            </a:solidFill>
            <a:prstDash val="solid"/>
          </a:ln>
        </p:spPr>
        <p:txBody>
          <a:bodyPr wrap="square" lIns="31750" tIns="57150" rIns="31750" bIns="31750" rtlCol="0" anchor="t">
            <a:normAutofit/>
          </a:bodyPr>
          <a:lstStyle/>
          <a:p>
            <a:pPr algn="ctr" indent="0" marL="0">
              <a:lnSpc>
                <a:spcPts val="1320"/>
              </a:lnSpc>
              <a:buNone/>
            </a:pPr>
            <a:r>
              <a:rPr lang="en-US" sz="1200" dirty="0">
                <a:solidFill>
                  <a:srgbClr val="FFFFFF"/>
                </a:solidFill>
                <a:latin typeface="Source Sans 3" pitchFamily="34" charset="0"/>
                <a:ea typeface="Source Sans 3" pitchFamily="34" charset="-122"/>
                <a:cs typeface="Source Sans 3" pitchFamily="34" charset="-120"/>
              </a:rPr>
              <a:t>Security</a:t>
            </a:r>
            <a:endParaRPr lang="en-US" sz="1200" dirty="0"/>
          </a:p>
        </p:txBody>
      </p:sp>
      <p:sp>
        <p:nvSpPr>
          <p:cNvPr id="16" name="Shape 13"/>
          <p:cNvSpPr/>
          <p:nvPr/>
        </p:nvSpPr>
        <p:spPr>
          <a:xfrm>
            <a:off x="723900" y="3321943"/>
            <a:ext cx="3276600" cy="1285081"/>
          </a:xfrm>
          <a:prstGeom prst="roundRect">
            <a:avLst>
              <a:gd name="adj" fmla="val 3953"/>
            </a:avLst>
          </a:prstGeom>
          <a:solidFill>
            <a:srgbClr val="1FB0C9"/>
          </a:solidFill>
          <a:ln/>
        </p:spPr>
      </p:sp>
      <p:sp>
        <p:nvSpPr>
          <p:cNvPr id="17" name="Text 14"/>
          <p:cNvSpPr/>
          <p:nvPr/>
        </p:nvSpPr>
        <p:spPr>
          <a:xfrm>
            <a:off x="825500" y="3423543"/>
            <a:ext cx="316560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Source Sans 3" pitchFamily="34" charset="0"/>
                <a:ea typeface="Source Sans 3" pitchFamily="34" charset="-122"/>
                <a:cs typeface="Source Sans 3" pitchFamily="34" charset="-120"/>
              </a:rPr>
              <a:t>Query processing</a:t>
            </a:r>
            <a:endParaRPr lang="en-US" sz="1200" dirty="0"/>
          </a:p>
        </p:txBody>
      </p:sp>
      <p:sp>
        <p:nvSpPr>
          <p:cNvPr id="18" name="Shape 15"/>
          <p:cNvSpPr/>
          <p:nvPr/>
        </p:nvSpPr>
        <p:spPr>
          <a:xfrm>
            <a:off x="831850" y="3706713"/>
            <a:ext cx="977900" cy="792361"/>
          </a:xfrm>
          <a:prstGeom prst="rect">
            <a:avLst/>
          </a:prstGeom>
          <a:solidFill>
            <a:srgbClr val="45C4D9"/>
          </a:solidFill>
          <a:ln w="12700">
            <a:solidFill>
              <a:srgbClr val="E9F7FA"/>
            </a:solidFill>
            <a:prstDash val="solid"/>
          </a:ln>
        </p:spPr>
      </p:sp>
      <p:sp>
        <p:nvSpPr>
          <p:cNvPr id="19" name="Text 16"/>
          <p:cNvSpPr/>
          <p:nvPr/>
        </p:nvSpPr>
        <p:spPr>
          <a:xfrm>
            <a:off x="863600" y="3763863"/>
            <a:ext cx="914400" cy="360561"/>
          </a:xfrm>
          <a:prstGeom prst="rect">
            <a:avLst/>
          </a:prstGeom>
          <a:noFill/>
          <a:ln/>
        </p:spPr>
        <p:txBody>
          <a:bodyPr wrap="square" lIns="0" tIns="0" rIns="0" bIns="0" rtlCol="0" anchor="t">
            <a:normAutofit/>
          </a:bodyPr>
          <a:lstStyle/>
          <a:p>
            <a:pPr algn="ctr" indent="0" marL="0">
              <a:lnSpc>
                <a:spcPts val="1320"/>
              </a:lnSpc>
              <a:buNone/>
            </a:pPr>
            <a:r>
              <a:rPr lang="en-US" sz="1200" dirty="0">
                <a:solidFill>
                  <a:srgbClr val="FFFFFF"/>
                </a:solidFill>
                <a:latin typeface="Source Sans 3" pitchFamily="34" charset="0"/>
                <a:ea typeface="Source Sans 3" pitchFamily="34" charset="-122"/>
                <a:cs typeface="Source Sans 3" pitchFamily="34" charset="-120"/>
              </a:rPr>
              <a:t>Virtual warehouse</a:t>
            </a:r>
            <a:endParaRPr lang="en-US" sz="1200" dirty="0"/>
          </a:p>
        </p:txBody>
      </p:sp>
      <p:pic>
        <p:nvPicPr>
          <p:cNvPr id="20" name="Image 1" descr="Settings">    </p:cNvPr>
          <p:cNvPicPr>
            <a:picLocks noChangeAspect="1"/>
          </p:cNvPicPr>
          <p:nvPr/>
        </p:nvPicPr>
        <p:blipFill>
          <a:blip r:embed="rId2"/>
          <a:srcRect l="0" r="0" t="0" b="0"/>
          <a:stretch/>
        </p:blipFill>
        <p:spPr>
          <a:xfrm>
            <a:off x="1168400" y="4137124"/>
            <a:ext cx="304800" cy="304800"/>
          </a:xfrm>
          <a:prstGeom prst="rect">
            <a:avLst/>
          </a:prstGeom>
        </p:spPr>
      </p:pic>
      <p:sp>
        <p:nvSpPr>
          <p:cNvPr id="21" name="Shape 17"/>
          <p:cNvSpPr/>
          <p:nvPr/>
        </p:nvSpPr>
        <p:spPr>
          <a:xfrm>
            <a:off x="1873250" y="3706713"/>
            <a:ext cx="977900" cy="792361"/>
          </a:xfrm>
          <a:prstGeom prst="rect">
            <a:avLst/>
          </a:prstGeom>
          <a:solidFill>
            <a:srgbClr val="45C4D9"/>
          </a:solidFill>
          <a:ln w="12700">
            <a:solidFill>
              <a:srgbClr val="E9F7FA"/>
            </a:solidFill>
            <a:prstDash val="solid"/>
          </a:ln>
        </p:spPr>
      </p:sp>
      <p:sp>
        <p:nvSpPr>
          <p:cNvPr id="22" name="Text 18"/>
          <p:cNvSpPr/>
          <p:nvPr/>
        </p:nvSpPr>
        <p:spPr>
          <a:xfrm>
            <a:off x="1905000" y="3763863"/>
            <a:ext cx="914400" cy="360561"/>
          </a:xfrm>
          <a:prstGeom prst="rect">
            <a:avLst/>
          </a:prstGeom>
          <a:noFill/>
          <a:ln/>
        </p:spPr>
        <p:txBody>
          <a:bodyPr wrap="square" lIns="0" tIns="0" rIns="0" bIns="0" rtlCol="0" anchor="t">
            <a:normAutofit/>
          </a:bodyPr>
          <a:lstStyle/>
          <a:p>
            <a:pPr algn="ctr" indent="0" marL="0">
              <a:lnSpc>
                <a:spcPts val="1320"/>
              </a:lnSpc>
              <a:buNone/>
            </a:pPr>
            <a:r>
              <a:rPr lang="en-US" sz="1200" dirty="0">
                <a:solidFill>
                  <a:srgbClr val="FFFFFF"/>
                </a:solidFill>
                <a:latin typeface="Source Sans 3" pitchFamily="34" charset="0"/>
                <a:ea typeface="Source Sans 3" pitchFamily="34" charset="-122"/>
                <a:cs typeface="Source Sans 3" pitchFamily="34" charset="-120"/>
              </a:rPr>
              <a:t>Virtual warehouse</a:t>
            </a:r>
            <a:endParaRPr lang="en-US" sz="1200" dirty="0"/>
          </a:p>
        </p:txBody>
      </p:sp>
      <p:pic>
        <p:nvPicPr>
          <p:cNvPr id="23" name="Image 2" descr="Settings">    </p:cNvPr>
          <p:cNvPicPr>
            <a:picLocks noChangeAspect="1"/>
          </p:cNvPicPr>
          <p:nvPr/>
        </p:nvPicPr>
        <p:blipFill>
          <a:blip r:embed="rId3"/>
          <a:srcRect l="0" r="0" t="0" b="0"/>
          <a:stretch/>
        </p:blipFill>
        <p:spPr>
          <a:xfrm>
            <a:off x="2209800" y="4137124"/>
            <a:ext cx="304800" cy="304800"/>
          </a:xfrm>
          <a:prstGeom prst="rect">
            <a:avLst/>
          </a:prstGeom>
        </p:spPr>
      </p:pic>
      <p:sp>
        <p:nvSpPr>
          <p:cNvPr id="24" name="Shape 19"/>
          <p:cNvSpPr/>
          <p:nvPr/>
        </p:nvSpPr>
        <p:spPr>
          <a:xfrm>
            <a:off x="2914650" y="3706713"/>
            <a:ext cx="977900" cy="792361"/>
          </a:xfrm>
          <a:prstGeom prst="rect">
            <a:avLst/>
          </a:prstGeom>
          <a:solidFill>
            <a:srgbClr val="45C4D9"/>
          </a:solidFill>
          <a:ln w="12700">
            <a:solidFill>
              <a:srgbClr val="E9F7FA"/>
            </a:solidFill>
            <a:prstDash val="solid"/>
          </a:ln>
        </p:spPr>
      </p:sp>
      <p:sp>
        <p:nvSpPr>
          <p:cNvPr id="25" name="Text 20"/>
          <p:cNvSpPr/>
          <p:nvPr/>
        </p:nvSpPr>
        <p:spPr>
          <a:xfrm>
            <a:off x="2946400" y="3763863"/>
            <a:ext cx="914400" cy="360561"/>
          </a:xfrm>
          <a:prstGeom prst="rect">
            <a:avLst/>
          </a:prstGeom>
          <a:noFill/>
          <a:ln/>
        </p:spPr>
        <p:txBody>
          <a:bodyPr wrap="square" lIns="0" tIns="0" rIns="0" bIns="0" rtlCol="0" anchor="t">
            <a:normAutofit/>
          </a:bodyPr>
          <a:lstStyle/>
          <a:p>
            <a:pPr algn="ctr" indent="0" marL="0">
              <a:lnSpc>
                <a:spcPts val="1320"/>
              </a:lnSpc>
              <a:buNone/>
            </a:pPr>
            <a:r>
              <a:rPr lang="en-US" sz="1200" dirty="0">
                <a:solidFill>
                  <a:srgbClr val="FFFFFF"/>
                </a:solidFill>
                <a:latin typeface="Source Sans 3" pitchFamily="34" charset="0"/>
                <a:ea typeface="Source Sans 3" pitchFamily="34" charset="-122"/>
                <a:cs typeface="Source Sans 3" pitchFamily="34" charset="-120"/>
              </a:rPr>
              <a:t>Virtual warehouse</a:t>
            </a:r>
            <a:endParaRPr lang="en-US" sz="1200" dirty="0"/>
          </a:p>
        </p:txBody>
      </p:sp>
      <p:pic>
        <p:nvPicPr>
          <p:cNvPr id="26" name="Image 3" descr="Settings">    </p:cNvPr>
          <p:cNvPicPr>
            <a:picLocks noChangeAspect="1"/>
          </p:cNvPicPr>
          <p:nvPr/>
        </p:nvPicPr>
        <p:blipFill>
          <a:blip r:embed="rId4"/>
          <a:srcRect l="0" r="0" t="0" b="0"/>
          <a:stretch/>
        </p:blipFill>
        <p:spPr>
          <a:xfrm>
            <a:off x="3251200" y="4137124"/>
            <a:ext cx="304800" cy="304800"/>
          </a:xfrm>
          <a:prstGeom prst="rect">
            <a:avLst/>
          </a:prstGeom>
        </p:spPr>
      </p:pic>
      <p:sp>
        <p:nvSpPr>
          <p:cNvPr id="27" name="Shape 21"/>
          <p:cNvSpPr/>
          <p:nvPr/>
        </p:nvSpPr>
        <p:spPr>
          <a:xfrm>
            <a:off x="723900" y="4708624"/>
            <a:ext cx="3276600" cy="886420"/>
          </a:xfrm>
          <a:prstGeom prst="roundRect">
            <a:avLst>
              <a:gd name="adj" fmla="val 5731"/>
            </a:avLst>
          </a:prstGeom>
          <a:solidFill>
            <a:srgbClr val="1FB0C9"/>
          </a:solidFill>
          <a:ln/>
        </p:spPr>
      </p:sp>
      <p:sp>
        <p:nvSpPr>
          <p:cNvPr id="28" name="Text 22"/>
          <p:cNvSpPr/>
          <p:nvPr/>
        </p:nvSpPr>
        <p:spPr>
          <a:xfrm>
            <a:off x="825500" y="4810224"/>
            <a:ext cx="316560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Source Sans 3" pitchFamily="34" charset="0"/>
                <a:ea typeface="Source Sans 3" pitchFamily="34" charset="-122"/>
                <a:cs typeface="Source Sans 3" pitchFamily="34" charset="-120"/>
              </a:rPr>
              <a:t>Database storage</a:t>
            </a:r>
            <a:endParaRPr lang="en-US" sz="1200" dirty="0"/>
          </a:p>
        </p:txBody>
      </p:sp>
      <p:pic>
        <p:nvPicPr>
          <p:cNvPr id="29" name="Image 4" descr="Database">    </p:cNvPr>
          <p:cNvPicPr>
            <a:picLocks noChangeAspect="1"/>
          </p:cNvPicPr>
          <p:nvPr/>
        </p:nvPicPr>
        <p:blipFill>
          <a:blip r:embed="rId5"/>
          <a:srcRect l="0" r="0" t="0" b="0"/>
          <a:stretch/>
        </p:blipFill>
        <p:spPr>
          <a:xfrm>
            <a:off x="1006475" y="5087045"/>
            <a:ext cx="406400" cy="406400"/>
          </a:xfrm>
          <a:prstGeom prst="rect">
            <a:avLst/>
          </a:prstGeom>
        </p:spPr>
      </p:pic>
      <p:pic>
        <p:nvPicPr>
          <p:cNvPr id="30" name="Image 5" descr="Database">    </p:cNvPr>
          <p:cNvPicPr>
            <a:picLocks noChangeAspect="1"/>
          </p:cNvPicPr>
          <p:nvPr/>
        </p:nvPicPr>
        <p:blipFill>
          <a:blip r:embed="rId6"/>
          <a:srcRect l="0" r="0" t="0" b="0"/>
          <a:stretch/>
        </p:blipFill>
        <p:spPr>
          <a:xfrm>
            <a:off x="1774825" y="5087045"/>
            <a:ext cx="406400" cy="406400"/>
          </a:xfrm>
          <a:prstGeom prst="rect">
            <a:avLst/>
          </a:prstGeom>
        </p:spPr>
      </p:pic>
      <p:pic>
        <p:nvPicPr>
          <p:cNvPr id="31" name="Image 6" descr="Database">    </p:cNvPr>
          <p:cNvPicPr>
            <a:picLocks noChangeAspect="1"/>
          </p:cNvPicPr>
          <p:nvPr/>
        </p:nvPicPr>
        <p:blipFill>
          <a:blip r:embed="rId7"/>
          <a:srcRect l="0" r="0" t="0" b="0"/>
          <a:stretch/>
        </p:blipFill>
        <p:spPr>
          <a:xfrm>
            <a:off x="2543175" y="5087045"/>
            <a:ext cx="406400" cy="406400"/>
          </a:xfrm>
          <a:prstGeom prst="rect">
            <a:avLst/>
          </a:prstGeom>
        </p:spPr>
      </p:pic>
      <p:pic>
        <p:nvPicPr>
          <p:cNvPr id="32" name="Image 7" descr="Database">    </p:cNvPr>
          <p:cNvPicPr>
            <a:picLocks noChangeAspect="1"/>
          </p:cNvPicPr>
          <p:nvPr/>
        </p:nvPicPr>
        <p:blipFill>
          <a:blip r:embed="rId8"/>
          <a:srcRect l="0" r="0" t="0" b="0"/>
          <a:stretch/>
        </p:blipFill>
        <p:spPr>
          <a:xfrm>
            <a:off x="3311525" y="5087045"/>
            <a:ext cx="406400" cy="406400"/>
          </a:xfrm>
          <a:prstGeom prst="rect">
            <a:avLst/>
          </a:prstGeom>
        </p:spPr>
      </p:pic>
      <p:sp>
        <p:nvSpPr>
          <p:cNvPr id="33" name="Shape 23"/>
          <p:cNvSpPr/>
          <p:nvPr/>
        </p:nvSpPr>
        <p:spPr>
          <a:xfrm>
            <a:off x="4521200" y="1364555"/>
            <a:ext cx="7213600" cy="0"/>
          </a:xfrm>
          <a:prstGeom prst="line">
            <a:avLst/>
          </a:prstGeom>
          <a:noFill/>
          <a:ln w="6350">
            <a:solidFill>
              <a:srgbClr val="8A8F94"/>
            </a:solidFill>
            <a:prstDash val="solid"/>
          </a:ln>
        </p:spPr>
      </p:sp>
      <p:pic>
        <p:nvPicPr>
          <p:cNvPr id="34" name="Image 8" descr="Settings">    </p:cNvPr>
          <p:cNvPicPr>
            <a:picLocks noChangeAspect="1"/>
          </p:cNvPicPr>
          <p:nvPr/>
        </p:nvPicPr>
        <p:blipFill>
          <a:blip r:embed="rId9"/>
          <a:srcRect l="0" r="0" t="0" b="0"/>
          <a:stretch/>
        </p:blipFill>
        <p:spPr>
          <a:xfrm>
            <a:off x="4521200" y="1031180"/>
            <a:ext cx="304800" cy="304800"/>
          </a:xfrm>
          <a:prstGeom prst="rect">
            <a:avLst/>
          </a:prstGeom>
        </p:spPr>
      </p:pic>
      <p:sp>
        <p:nvSpPr>
          <p:cNvPr id="35" name="Text 24"/>
          <p:cNvSpPr/>
          <p:nvPr/>
        </p:nvSpPr>
        <p:spPr>
          <a:xfrm>
            <a:off x="4877054" y="1031180"/>
            <a:ext cx="6959092" cy="330200"/>
          </a:xfrm>
          <a:prstGeom prst="rect">
            <a:avLst/>
          </a:prstGeom>
          <a:noFill/>
          <a:ln/>
        </p:spPr>
        <p:txBody>
          <a:bodyPr wrap="square" lIns="0" tIns="0" rIns="0" bIns="0" rtlCol="0" anchor="t">
            <a:normAutofit/>
          </a:bodyPr>
          <a:lstStyle/>
          <a:p>
            <a:pPr algn="ctr" indent="0" marL="0">
              <a:lnSpc>
                <a:spcPts val="2400"/>
              </a:lnSpc>
              <a:buNone/>
            </a:pPr>
            <a:r>
              <a:rPr lang="en-US" sz="2000" dirty="0">
                <a:solidFill>
                  <a:srgbClr val="3B4046"/>
                </a:solidFill>
                <a:latin typeface="Source Sans 3" pitchFamily="34" charset="0"/>
                <a:ea typeface="Source Sans 3" pitchFamily="34" charset="-122"/>
                <a:cs typeface="Source Sans 3" pitchFamily="34" charset="-120"/>
              </a:rPr>
              <a:t>Applications/Infrastructure/Storage</a:t>
            </a:r>
            <a:endParaRPr lang="en-US" sz="2000" dirty="0"/>
          </a:p>
        </p:txBody>
      </p:sp>
      <p:sp>
        <p:nvSpPr>
          <p:cNvPr id="36" name="Text 25"/>
          <p:cNvSpPr/>
          <p:nvPr/>
        </p:nvSpPr>
        <p:spPr>
          <a:xfrm>
            <a:off x="4521200" y="1399480"/>
            <a:ext cx="7430008"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2E5D8C"/>
                </a:solidFill>
                <a:latin typeface="Source Sans 3" pitchFamily="34" charset="0"/>
                <a:ea typeface="Source Sans 3" pitchFamily="34" charset="-122"/>
                <a:cs typeface="Source Sans 3" pitchFamily="34" charset="-120"/>
              </a:rPr>
              <a:t>Client Applications</a:t>
            </a:r>
            <a:endParaRPr lang="en-US" sz="1200" dirty="0"/>
          </a:p>
        </p:txBody>
      </p:sp>
      <p:sp>
        <p:nvSpPr>
          <p:cNvPr id="37" name="Text 26"/>
          <p:cNvSpPr/>
          <p:nvPr/>
        </p:nvSpPr>
        <p:spPr>
          <a:xfrm>
            <a:off x="4556506" y="1606451"/>
            <a:ext cx="7388987" cy="726281"/>
          </a:xfrm>
          <a:prstGeom prst="rect">
            <a:avLst/>
          </a:prstGeom>
          <a:noFill/>
          <a:ln/>
        </p:spPr>
        <p:txBody>
          <a:bodyPr wrap="square" lIns="0" tIns="0" rIns="0" bIns="0" rtlCol="0" anchor="t">
            <a:normAutofit/>
          </a:bodyPr>
          <a:lstStyle/>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Snowflake integrates with various data loading and ETL (extract, transform, and load) tools and business intelligence (BI) reporting, data mining, and analytics tools.</a:t>
            </a:r>
            <a:endParaRPr lang="en-US" sz="1200" dirty="0"/>
          </a:p>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Allows for ODBC and JDBC connections along with built in Snowflake GUI console, command line interface (CLI), or API to run queries.</a:t>
            </a:r>
            <a:endParaRPr lang="en-US" sz="1200" dirty="0"/>
          </a:p>
        </p:txBody>
      </p:sp>
      <p:sp>
        <p:nvSpPr>
          <p:cNvPr id="38" name="Text 27"/>
          <p:cNvSpPr/>
          <p:nvPr/>
        </p:nvSpPr>
        <p:spPr>
          <a:xfrm>
            <a:off x="4521200" y="2339082"/>
            <a:ext cx="7430008"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2E5D8C"/>
                </a:solidFill>
                <a:latin typeface="Source Sans 3" pitchFamily="34" charset="0"/>
                <a:ea typeface="Source Sans 3" pitchFamily="34" charset="-122"/>
                <a:cs typeface="Source Sans 3" pitchFamily="34" charset="-120"/>
              </a:rPr>
              <a:t>Cloud Services</a:t>
            </a:r>
            <a:endParaRPr lang="en-US" sz="1200" dirty="0"/>
          </a:p>
        </p:txBody>
      </p:sp>
      <p:sp>
        <p:nvSpPr>
          <p:cNvPr id="39" name="Text 28"/>
          <p:cNvSpPr/>
          <p:nvPr/>
        </p:nvSpPr>
        <p:spPr>
          <a:xfrm>
            <a:off x="4556506" y="2546052"/>
            <a:ext cx="7388987" cy="375841"/>
          </a:xfrm>
          <a:prstGeom prst="rect">
            <a:avLst/>
          </a:prstGeom>
          <a:noFill/>
          <a:ln/>
        </p:spPr>
        <p:txBody>
          <a:bodyPr wrap="square" lIns="0" tIns="0" rIns="0" bIns="0" rtlCol="0" anchor="t">
            <a:normAutofit/>
          </a:bodyPr>
          <a:lstStyle/>
          <a:p>
            <a:pPr algn="l" marL="155194" indent="-155194">
              <a:lnSpc>
                <a:spcPts val="1380"/>
              </a:lnSpc>
              <a:buSzPct val="100000"/>
              <a:buChar char="•"/>
            </a:pPr>
            <a:r>
              <a:rPr lang="en-US" sz="1200" b="1" dirty="0">
                <a:solidFill>
                  <a:srgbClr val="3B4046"/>
                </a:solidFill>
                <a:latin typeface="Source Sans 3" pitchFamily="34" charset="0"/>
                <a:ea typeface="Source Sans 3" pitchFamily="34" charset="-122"/>
                <a:cs typeface="Source Sans 3" pitchFamily="34" charset="-120"/>
              </a:rPr>
              <a:t>The cloud services layer runs on compute instances provisioned and managed by Snowflake from the cloud provider.</a:t>
            </a:r>
            <a:endParaRPr lang="en-US" sz="1200" dirty="0"/>
          </a:p>
        </p:txBody>
      </p:sp>
      <p:sp>
        <p:nvSpPr>
          <p:cNvPr id="40" name="Text 29"/>
          <p:cNvSpPr/>
          <p:nvPr/>
        </p:nvSpPr>
        <p:spPr>
          <a:xfrm>
            <a:off x="4521200" y="2928243"/>
            <a:ext cx="7430008"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2E5D8C"/>
                </a:solidFill>
                <a:latin typeface="Source Sans 3" pitchFamily="34" charset="0"/>
                <a:ea typeface="Source Sans 3" pitchFamily="34" charset="-122"/>
                <a:cs typeface="Source Sans 3" pitchFamily="34" charset="-120"/>
              </a:rPr>
              <a:t>Query Processing</a:t>
            </a:r>
            <a:endParaRPr lang="en-US" sz="1200" dirty="0"/>
          </a:p>
        </p:txBody>
      </p:sp>
      <p:sp>
        <p:nvSpPr>
          <p:cNvPr id="41" name="Text 30"/>
          <p:cNvSpPr/>
          <p:nvPr/>
        </p:nvSpPr>
        <p:spPr>
          <a:xfrm>
            <a:off x="4556506" y="3135213"/>
            <a:ext cx="7388987" cy="1427163"/>
          </a:xfrm>
          <a:prstGeom prst="rect">
            <a:avLst/>
          </a:prstGeom>
          <a:noFill/>
          <a:ln/>
        </p:spPr>
        <p:txBody>
          <a:bodyPr wrap="square" lIns="0" tIns="0" rIns="0" bIns="0" rtlCol="0" anchor="t">
            <a:normAutofit/>
          </a:bodyPr>
          <a:lstStyle/>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Query execution is performed in the processing layer. Snowflake processes queries using “virtual warehouses”, often referred to simply as a “warehouse”. Each virtual warehouse is an MPP compute cluster composed of multiple compute nodes allocated by Snowflake.</a:t>
            </a:r>
            <a:endParaRPr lang="en-US" sz="1200" dirty="0"/>
          </a:p>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A warehouse provides the required resources, such as CPU, memory, and temporary storage, to perform operations.</a:t>
            </a:r>
            <a:endParaRPr lang="en-US" sz="1200" dirty="0"/>
          </a:p>
          <a:p>
            <a:pPr algn="l" marL="155194" indent="-155194">
              <a:lnSpc>
                <a:spcPts val="1380"/>
              </a:lnSpc>
              <a:buSzPct val="100000"/>
              <a:buChar char="•"/>
            </a:pPr>
            <a:r>
              <a:rPr lang="en-US" sz="1200" b="1" dirty="0">
                <a:solidFill>
                  <a:srgbClr val="3B4046"/>
                </a:solidFill>
                <a:latin typeface="Source Sans 3" pitchFamily="34" charset="0"/>
                <a:ea typeface="Source Sans 3" pitchFamily="34" charset="-122"/>
                <a:cs typeface="Source Sans 3" pitchFamily="34" charset="-120"/>
              </a:rPr>
              <a:t>Each virtual warehouse is an independent compute cluster that does not share compute resources with other virtual warehouses. As a result, each virtual warehouse has no impact on the performance of other virtual warehouses.</a:t>
            </a:r>
            <a:endParaRPr lang="en-US" sz="1200" dirty="0"/>
          </a:p>
        </p:txBody>
      </p:sp>
      <p:sp>
        <p:nvSpPr>
          <p:cNvPr id="42" name="Text 31"/>
          <p:cNvSpPr/>
          <p:nvPr/>
        </p:nvSpPr>
        <p:spPr>
          <a:xfrm>
            <a:off x="4521200" y="4568726"/>
            <a:ext cx="7430008"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2E5D8C"/>
                </a:solidFill>
                <a:latin typeface="Source Sans 3" pitchFamily="34" charset="0"/>
                <a:ea typeface="Source Sans 3" pitchFamily="34" charset="-122"/>
                <a:cs typeface="Source Sans 3" pitchFamily="34" charset="-120"/>
              </a:rPr>
              <a:t>Databases</a:t>
            </a:r>
            <a:endParaRPr lang="en-US" sz="1200" dirty="0"/>
          </a:p>
        </p:txBody>
      </p:sp>
      <p:sp>
        <p:nvSpPr>
          <p:cNvPr id="43" name="Text 32"/>
          <p:cNvSpPr/>
          <p:nvPr/>
        </p:nvSpPr>
        <p:spPr>
          <a:xfrm>
            <a:off x="4556506" y="4775696"/>
            <a:ext cx="7388987" cy="1777603"/>
          </a:xfrm>
          <a:prstGeom prst="rect">
            <a:avLst/>
          </a:prstGeom>
          <a:noFill/>
          <a:ln/>
        </p:spPr>
        <p:txBody>
          <a:bodyPr wrap="square" lIns="0" tIns="0" rIns="0" bIns="0" rtlCol="0" anchor="t">
            <a:normAutofit/>
          </a:bodyPr>
          <a:lstStyle/>
          <a:p>
            <a:pPr algn="l" marL="155194" indent="-155194">
              <a:lnSpc>
                <a:spcPts val="1380"/>
              </a:lnSpc>
              <a:buSzPct val="100000"/>
              <a:buChar char="•"/>
            </a:pPr>
            <a:r>
              <a:rPr lang="en-US" sz="1200" b="1" dirty="0">
                <a:solidFill>
                  <a:srgbClr val="3B4046"/>
                </a:solidFill>
                <a:latin typeface="Source Sans 3" pitchFamily="34" charset="0"/>
                <a:ea typeface="Source Sans 3" pitchFamily="34" charset="-122"/>
                <a:cs typeface="Source Sans 3" pitchFamily="34" charset="-120"/>
              </a:rPr>
              <a:t>The database storage is separate from the compute resources.</a:t>
            </a:r>
            <a:endParaRPr lang="en-US" sz="1200" dirty="0"/>
          </a:p>
          <a:p>
            <a:pPr algn="l" marL="155194" indent="-155194">
              <a:lnSpc>
                <a:spcPts val="1380"/>
              </a:lnSpc>
              <a:buSzPct val="100000"/>
              <a:buChar char="•"/>
            </a:pPr>
            <a:r>
              <a:rPr lang="en-US" sz="1200" b="1" dirty="0">
                <a:solidFill>
                  <a:srgbClr val="3B4046"/>
                </a:solidFill>
                <a:latin typeface="Source Sans 3" pitchFamily="34" charset="0"/>
                <a:ea typeface="Source Sans 3" pitchFamily="34" charset="-122"/>
                <a:cs typeface="Source Sans 3" pitchFamily="34" charset="-120"/>
              </a:rPr>
              <a:t>Snowflake manages all aspects of how this data is stored — the organization, file size, structure, compression, metadata, statistics, and other aspects of data storage are handled by Snowflake.</a:t>
            </a:r>
            <a:endParaRPr lang="en-US" sz="1200" dirty="0"/>
          </a:p>
          <a:p>
            <a:pPr algn="l" marL="155194" indent="-155194">
              <a:lnSpc>
                <a:spcPts val="1380"/>
              </a:lnSpc>
              <a:buSzPct val="100000"/>
              <a:buChar char="•"/>
            </a:pPr>
            <a:r>
              <a:rPr lang="en-US" sz="1200" b="1" dirty="0">
                <a:solidFill>
                  <a:srgbClr val="3B4046"/>
                </a:solidFill>
                <a:latin typeface="Source Sans 3" pitchFamily="34" charset="0"/>
                <a:ea typeface="Source Sans 3" pitchFamily="34" charset="-122"/>
                <a:cs typeface="Source Sans 3" pitchFamily="34" charset="-120"/>
              </a:rPr>
              <a:t>Snowflake manages the distribution of the table data across the storage so there is no need for designing the table distribution keys.</a:t>
            </a:r>
            <a:endParaRPr lang="en-US" sz="1200" dirty="0"/>
          </a:p>
          <a:p>
            <a:pPr algn="l" marL="155194" indent="-155194">
              <a:lnSpc>
                <a:spcPts val="1380"/>
              </a:lnSpc>
              <a:buSzPct val="100000"/>
              <a:buChar char="•"/>
            </a:pPr>
            <a:r>
              <a:rPr lang="en-US" sz="1200" b="1" dirty="0">
                <a:solidFill>
                  <a:srgbClr val="3B4046"/>
                </a:solidFill>
                <a:latin typeface="Source Sans 3" pitchFamily="34" charset="0"/>
                <a:ea typeface="Source Sans 3" pitchFamily="34" charset="-122"/>
                <a:cs typeface="Source Sans 3" pitchFamily="34" charset="-120"/>
              </a:rPr>
              <a:t>Snowflake Cloud Data Platform was built to be data model design pattern agnostic so you can use it with equal efficiency for 3NF models, dimensional (star) schemas, data vault, or any hybrid you might have. Snowflake supports data vault design and handles several data vault design variations very well with excellent performance.</a:t>
            </a:r>
            <a:endParaRPr lang="en-US" sz="1200" dirty="0"/>
          </a:p>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Uses columnar storage, meaning each data block stores a single column for multiple rows.</a:t>
            </a:r>
            <a:endParaRPr lang="en-US" sz="1200" dirty="0"/>
          </a:p>
        </p:txBody>
      </p:sp>
      <p:sp>
        <p:nvSpPr>
          <p:cNvPr id="44" name="Text 33"/>
          <p:cNvSpPr/>
          <p:nvPr/>
        </p:nvSpPr>
        <p:spPr>
          <a:xfrm>
            <a:off x="457200" y="6512620"/>
            <a:ext cx="26162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7F7EF"/>
                </a:solidFill>
                <a:latin typeface="Source Sans 3" pitchFamily="34" charset="0"/>
                <a:ea typeface="Source Sans 3" pitchFamily="34" charset="-122"/>
                <a:cs typeface="Source Sans 3" pitchFamily="34" charset="-120"/>
              </a:rPr>
              <a:t>Confidential</a:t>
            </a:r>
            <a:endParaRPr lang="en-US" sz="1300" dirty="0"/>
          </a:p>
        </p:txBody>
      </p:sp>
      <p:sp>
        <p:nvSpPr>
          <p:cNvPr id="45" name="Text 34"/>
          <p:cNvSpPr/>
          <p:nvPr/>
        </p:nvSpPr>
        <p:spPr>
          <a:xfrm>
            <a:off x="11049000" y="6512620"/>
            <a:ext cx="6858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F7F7EF"/>
                </a:solidFill>
                <a:latin typeface="Source Sans 3" pitchFamily="34" charset="0"/>
                <a:ea typeface="Source Sans 3" pitchFamily="34" charset="-122"/>
                <a:cs typeface="Source Sans 3" pitchFamily="34" charset="-120"/>
              </a:rPr>
              <a:t>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82" r="-82" t="0" b="0"/>
          <a:stretch/>
        </p:blipFill>
        <p:spPr>
          <a:xfrm>
            <a:off x="0" y="5651500"/>
            <a:ext cx="12192000" cy="1206500"/>
          </a:xfrm>
          <a:prstGeom prst="rect">
            <a:avLst/>
          </a:prstGeom>
        </p:spPr>
      </p:pic>
      <p:sp>
        <p:nvSpPr>
          <p:cNvPr id="3" name="Text 0"/>
          <p:cNvSpPr/>
          <p:nvPr/>
        </p:nvSpPr>
        <p:spPr>
          <a:xfrm>
            <a:off x="457200" y="228600"/>
            <a:ext cx="11615928" cy="434280"/>
          </a:xfrm>
          <a:prstGeom prst="rect">
            <a:avLst/>
          </a:prstGeom>
          <a:noFill/>
          <a:ln/>
        </p:spPr>
        <p:txBody>
          <a:bodyPr wrap="square" lIns="0" tIns="0" rIns="0" bIns="0" rtlCol="0" anchor="t">
            <a:normAutofit/>
          </a:bodyPr>
          <a:lstStyle/>
          <a:p>
            <a:pPr algn="l" indent="0" marL="0">
              <a:lnSpc>
                <a:spcPts val="3220"/>
              </a:lnSpc>
              <a:buNone/>
            </a:pPr>
            <a:r>
              <a:rPr lang="en-US" sz="2800" dirty="0">
                <a:solidFill>
                  <a:srgbClr val="3B4046"/>
                </a:solidFill>
                <a:latin typeface="Source Sans 3" pitchFamily="34" charset="0"/>
                <a:ea typeface="Source Sans 3" pitchFamily="34" charset="-122"/>
                <a:cs typeface="Source Sans 3" pitchFamily="34" charset="-120"/>
              </a:rPr>
              <a:t>AWS Architecture</a:t>
            </a:r>
            <a:endParaRPr lang="en-US" sz="2800" dirty="0"/>
          </a:p>
        </p:txBody>
      </p:sp>
      <p:sp>
        <p:nvSpPr>
          <p:cNvPr id="4" name="Shape 1"/>
          <p:cNvSpPr/>
          <p:nvPr/>
        </p:nvSpPr>
        <p:spPr>
          <a:xfrm>
            <a:off x="457200" y="840680"/>
            <a:ext cx="11277600" cy="19050"/>
          </a:xfrm>
          <a:prstGeom prst="rect">
            <a:avLst/>
          </a:prstGeom>
          <a:solidFill>
            <a:srgbClr val="5F7F9C"/>
          </a:solidFill>
          <a:ln/>
        </p:spPr>
      </p:sp>
      <p:sp>
        <p:nvSpPr>
          <p:cNvPr id="5" name="Shape 2"/>
          <p:cNvSpPr/>
          <p:nvPr/>
        </p:nvSpPr>
        <p:spPr>
          <a:xfrm>
            <a:off x="457200" y="859730"/>
            <a:ext cx="11277600" cy="19050"/>
          </a:xfrm>
          <a:prstGeom prst="rect">
            <a:avLst/>
          </a:prstGeom>
          <a:solidFill>
            <a:srgbClr val="A9B53A"/>
          </a:solidFill>
          <a:ln/>
        </p:spPr>
      </p:sp>
      <p:sp>
        <p:nvSpPr>
          <p:cNvPr id="6" name="Shape 3"/>
          <p:cNvSpPr/>
          <p:nvPr/>
        </p:nvSpPr>
        <p:spPr>
          <a:xfrm>
            <a:off x="1377950" y="1037530"/>
            <a:ext cx="1587500" cy="772120"/>
          </a:xfrm>
          <a:prstGeom prst="rect">
            <a:avLst/>
          </a:prstGeom>
          <a:solidFill>
            <a:srgbClr val="F1F2F3"/>
          </a:solidFill>
          <a:ln w="12700">
            <a:solidFill>
              <a:srgbClr val="6B7178"/>
            </a:solidFill>
            <a:prstDash val="solid"/>
          </a:ln>
        </p:spPr>
      </p:sp>
      <p:pic>
        <p:nvPicPr>
          <p:cNvPr id="7" name="Image 1" descr="Code">    </p:cNvPr>
          <p:cNvPicPr>
            <a:picLocks noChangeAspect="1"/>
          </p:cNvPicPr>
          <p:nvPr/>
        </p:nvPicPr>
        <p:blipFill>
          <a:blip r:embed="rId2"/>
          <a:srcRect l="0" r="0" t="0" b="0"/>
          <a:stretch/>
        </p:blipFill>
        <p:spPr>
          <a:xfrm>
            <a:off x="1536700" y="1120080"/>
            <a:ext cx="355600" cy="355600"/>
          </a:xfrm>
          <a:prstGeom prst="rect">
            <a:avLst/>
          </a:prstGeom>
        </p:spPr>
      </p:pic>
      <p:pic>
        <p:nvPicPr>
          <p:cNvPr id="8" name="Image 2" descr="Code">    </p:cNvPr>
          <p:cNvPicPr>
            <a:picLocks noChangeAspect="1"/>
          </p:cNvPicPr>
          <p:nvPr/>
        </p:nvPicPr>
        <p:blipFill>
          <a:blip r:embed="rId3"/>
          <a:srcRect l="0" r="0" t="0" b="0"/>
          <a:stretch/>
        </p:blipFill>
        <p:spPr>
          <a:xfrm>
            <a:off x="1993900" y="1120080"/>
            <a:ext cx="355600" cy="355600"/>
          </a:xfrm>
          <a:prstGeom prst="rect">
            <a:avLst/>
          </a:prstGeom>
        </p:spPr>
      </p:pic>
      <p:pic>
        <p:nvPicPr>
          <p:cNvPr id="9" name="Image 3" descr="Code">    </p:cNvPr>
          <p:cNvPicPr>
            <a:picLocks noChangeAspect="1"/>
          </p:cNvPicPr>
          <p:nvPr/>
        </p:nvPicPr>
        <p:blipFill>
          <a:blip r:embed="rId4"/>
          <a:srcRect l="0" r="0" t="0" b="0"/>
          <a:stretch/>
        </p:blipFill>
        <p:spPr>
          <a:xfrm>
            <a:off x="2451100" y="1120080"/>
            <a:ext cx="355600" cy="355600"/>
          </a:xfrm>
          <a:prstGeom prst="rect">
            <a:avLst/>
          </a:prstGeom>
        </p:spPr>
      </p:pic>
      <p:sp>
        <p:nvSpPr>
          <p:cNvPr id="10" name="Text 4"/>
          <p:cNvSpPr/>
          <p:nvPr/>
        </p:nvSpPr>
        <p:spPr>
          <a:xfrm>
            <a:off x="1574403" y="1513780"/>
            <a:ext cx="12453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046"/>
                </a:solidFill>
                <a:latin typeface="Source Sans 3" pitchFamily="34" charset="0"/>
                <a:ea typeface="Source Sans 3" pitchFamily="34" charset="-122"/>
                <a:cs typeface="Source Sans 3" pitchFamily="34" charset="-120"/>
              </a:rPr>
              <a:t>Client Applications</a:t>
            </a:r>
            <a:endParaRPr lang="en-US" sz="1200" dirty="0"/>
          </a:p>
        </p:txBody>
      </p:sp>
      <p:sp>
        <p:nvSpPr>
          <p:cNvPr id="11" name="Text 5"/>
          <p:cNvSpPr/>
          <p:nvPr/>
        </p:nvSpPr>
        <p:spPr>
          <a:xfrm>
            <a:off x="1614785" y="1879501"/>
            <a:ext cx="11645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570"/>
                </a:solidFill>
                <a:latin typeface="Source Sans 3" pitchFamily="34" charset="0"/>
                <a:ea typeface="Source Sans 3" pitchFamily="34" charset="-122"/>
                <a:cs typeface="Source Sans 3" pitchFamily="34" charset="-120"/>
              </a:rPr>
              <a:t>⇅ JDBC · ODBC ⇅</a:t>
            </a:r>
            <a:endParaRPr lang="en-US" sz="1200" dirty="0"/>
          </a:p>
        </p:txBody>
      </p:sp>
      <p:sp>
        <p:nvSpPr>
          <p:cNvPr id="12" name="Shape 6"/>
          <p:cNvSpPr/>
          <p:nvPr/>
        </p:nvSpPr>
        <p:spPr>
          <a:xfrm>
            <a:off x="463550" y="2162671"/>
            <a:ext cx="3416300" cy="2730302"/>
          </a:xfrm>
          <a:prstGeom prst="rect">
            <a:avLst/>
          </a:prstGeom>
          <a:noFill/>
          <a:ln w="12700">
            <a:solidFill>
              <a:srgbClr val="6B7178"/>
            </a:solidFill>
            <a:prstDash val="dash"/>
          </a:ln>
        </p:spPr>
      </p:sp>
      <p:sp>
        <p:nvSpPr>
          <p:cNvPr id="13" name="Shape 7"/>
          <p:cNvSpPr/>
          <p:nvPr/>
        </p:nvSpPr>
        <p:spPr>
          <a:xfrm>
            <a:off x="1409700" y="2296021"/>
            <a:ext cx="1524000" cy="784820"/>
          </a:xfrm>
          <a:prstGeom prst="roundRect">
            <a:avLst>
              <a:gd name="adj" fmla="val 6473"/>
            </a:avLst>
          </a:prstGeom>
          <a:solidFill>
            <a:srgbClr val="1F5F8B"/>
          </a:solidFill>
          <a:ln/>
        </p:spPr>
      </p:sp>
      <p:sp>
        <p:nvSpPr>
          <p:cNvPr id="14" name="Text 8"/>
          <p:cNvSpPr/>
          <p:nvPr/>
        </p:nvSpPr>
        <p:spPr>
          <a:xfrm>
            <a:off x="1758553" y="2384921"/>
            <a:ext cx="87699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Source Sans 3" pitchFamily="34" charset="0"/>
                <a:ea typeface="Source Sans 3" pitchFamily="34" charset="-122"/>
                <a:cs typeface="Source Sans 3" pitchFamily="34" charset="-120"/>
              </a:rPr>
              <a:t>Leader Node</a:t>
            </a:r>
            <a:endParaRPr lang="en-US" sz="1200" dirty="0"/>
          </a:p>
        </p:txBody>
      </p:sp>
      <p:pic>
        <p:nvPicPr>
          <p:cNvPr id="15" name="Image 4" descr="Database">    </p:cNvPr>
          <p:cNvPicPr>
            <a:picLocks noChangeAspect="1"/>
          </p:cNvPicPr>
          <p:nvPr/>
        </p:nvPicPr>
        <p:blipFill>
          <a:blip r:embed="rId5"/>
          <a:srcRect l="0" r="0" t="0" b="0"/>
          <a:stretch/>
        </p:blipFill>
        <p:spPr>
          <a:xfrm>
            <a:off x="1993900" y="2636341"/>
            <a:ext cx="355600" cy="355600"/>
          </a:xfrm>
          <a:prstGeom prst="rect">
            <a:avLst/>
          </a:prstGeom>
        </p:spPr>
      </p:pic>
      <p:sp>
        <p:nvSpPr>
          <p:cNvPr id="16" name="Text 9"/>
          <p:cNvSpPr/>
          <p:nvPr/>
        </p:nvSpPr>
        <p:spPr>
          <a:xfrm>
            <a:off x="2124472" y="3169741"/>
            <a:ext cx="1451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570"/>
                </a:solidFill>
                <a:latin typeface="Source Sans 3" pitchFamily="34" charset="0"/>
                <a:ea typeface="Source Sans 3" pitchFamily="34" charset="-122"/>
                <a:cs typeface="Source Sans 3" pitchFamily="34" charset="-120"/>
              </a:rPr>
              <a:t>↓</a:t>
            </a:r>
            <a:endParaRPr lang="en-US" sz="1200" dirty="0"/>
          </a:p>
        </p:txBody>
      </p:sp>
      <p:sp>
        <p:nvSpPr>
          <p:cNvPr id="17" name="Shape 10"/>
          <p:cNvSpPr/>
          <p:nvPr/>
        </p:nvSpPr>
        <p:spPr>
          <a:xfrm>
            <a:off x="646609" y="3478312"/>
            <a:ext cx="1320800" cy="972741"/>
          </a:xfrm>
          <a:prstGeom prst="rect">
            <a:avLst/>
          </a:prstGeom>
          <a:solidFill>
            <a:srgbClr val="F1F2F3"/>
          </a:solidFill>
          <a:ln w="12700">
            <a:solidFill>
              <a:srgbClr val="6B7178"/>
            </a:solidFill>
            <a:prstDash val="solid"/>
          </a:ln>
        </p:spPr>
      </p:sp>
      <p:sp>
        <p:nvSpPr>
          <p:cNvPr id="18" name="Text 11"/>
          <p:cNvSpPr/>
          <p:nvPr/>
        </p:nvSpPr>
        <p:spPr>
          <a:xfrm>
            <a:off x="773708" y="3548162"/>
            <a:ext cx="11174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046"/>
                </a:solidFill>
                <a:latin typeface="Source Sans 3" pitchFamily="34" charset="0"/>
                <a:ea typeface="Source Sans 3" pitchFamily="34" charset="-122"/>
                <a:cs typeface="Source Sans 3" pitchFamily="34" charset="-120"/>
              </a:rPr>
              <a:t>Compute Node 1</a:t>
            </a:r>
            <a:endParaRPr lang="en-US" sz="1200" dirty="0"/>
          </a:p>
        </p:txBody>
      </p:sp>
      <p:sp>
        <p:nvSpPr>
          <p:cNvPr id="19" name="Text 12"/>
          <p:cNvSpPr/>
          <p:nvPr/>
        </p:nvSpPr>
        <p:spPr>
          <a:xfrm>
            <a:off x="869355" y="3805932"/>
            <a:ext cx="875209" cy="276820"/>
          </a:xfrm>
          <a:prstGeom prst="rect">
            <a:avLst/>
          </a:prstGeom>
          <a:solidFill>
            <a:srgbClr val="FFFFFF"/>
          </a:solidFill>
          <a:ln w="12700">
            <a:solidFill>
              <a:srgbClr val="6B7178"/>
            </a:solidFill>
            <a:prstDash val="solid"/>
          </a:ln>
        </p:spPr>
        <p:txBody>
          <a:bodyPr wrap="none" lIns="0" tIns="0" rIns="0" bIns="0" rtlCol="0" anchor="ctr">
            <a:normAutofit/>
          </a:bodyPr>
          <a:lstStyle/>
          <a:p>
            <a:pPr algn="ctr" indent="0" marL="0">
              <a:lnSpc>
                <a:spcPts val="1680"/>
              </a:lnSpc>
              <a:buNone/>
            </a:pPr>
            <a:r>
              <a:rPr lang="en-US" sz="1200" dirty="0">
                <a:solidFill>
                  <a:srgbClr val="3B4046"/>
                </a:solidFill>
                <a:latin typeface="Source Sans 3" pitchFamily="34" charset="0"/>
                <a:ea typeface="Source Sans 3" pitchFamily="34" charset="-122"/>
                <a:cs typeface="Source Sans 3" pitchFamily="34" charset="-120"/>
              </a:rPr>
              <a:t>Node Slices</a:t>
            </a:r>
            <a:endParaRPr lang="en-US" sz="1200" dirty="0"/>
          </a:p>
        </p:txBody>
      </p:sp>
      <p:pic>
        <p:nvPicPr>
          <p:cNvPr id="20" name="Image 5" descr="Database">    </p:cNvPr>
          <p:cNvPicPr>
            <a:picLocks noChangeAspect="1"/>
          </p:cNvPicPr>
          <p:nvPr/>
        </p:nvPicPr>
        <p:blipFill>
          <a:blip r:embed="rId6"/>
          <a:srcRect l="0" r="0" t="0" b="0"/>
          <a:stretch/>
        </p:blipFill>
        <p:spPr>
          <a:xfrm>
            <a:off x="760909" y="4127202"/>
            <a:ext cx="254000" cy="254000"/>
          </a:xfrm>
          <a:prstGeom prst="rect">
            <a:avLst/>
          </a:prstGeom>
        </p:spPr>
      </p:pic>
      <p:pic>
        <p:nvPicPr>
          <p:cNvPr id="21" name="Image 6" descr="Database">    </p:cNvPr>
          <p:cNvPicPr>
            <a:picLocks noChangeAspect="1"/>
          </p:cNvPicPr>
          <p:nvPr/>
        </p:nvPicPr>
        <p:blipFill>
          <a:blip r:embed="rId7"/>
          <a:srcRect l="0" r="0" t="0" b="0"/>
          <a:stretch/>
        </p:blipFill>
        <p:spPr>
          <a:xfrm>
            <a:off x="1040309" y="4127202"/>
            <a:ext cx="254000" cy="254000"/>
          </a:xfrm>
          <a:prstGeom prst="rect">
            <a:avLst/>
          </a:prstGeom>
        </p:spPr>
      </p:pic>
      <p:pic>
        <p:nvPicPr>
          <p:cNvPr id="22" name="Image 7" descr="Database">    </p:cNvPr>
          <p:cNvPicPr>
            <a:picLocks noChangeAspect="1"/>
          </p:cNvPicPr>
          <p:nvPr/>
        </p:nvPicPr>
        <p:blipFill>
          <a:blip r:embed="rId8"/>
          <a:srcRect l="0" r="0" t="0" b="0"/>
          <a:stretch/>
        </p:blipFill>
        <p:spPr>
          <a:xfrm>
            <a:off x="1319709" y="4127202"/>
            <a:ext cx="254000" cy="254000"/>
          </a:xfrm>
          <a:prstGeom prst="rect">
            <a:avLst/>
          </a:prstGeom>
        </p:spPr>
      </p:pic>
      <p:pic>
        <p:nvPicPr>
          <p:cNvPr id="23" name="Image 8" descr="Database">    </p:cNvPr>
          <p:cNvPicPr>
            <a:picLocks noChangeAspect="1"/>
          </p:cNvPicPr>
          <p:nvPr/>
        </p:nvPicPr>
        <p:blipFill>
          <a:blip r:embed="rId9"/>
          <a:srcRect l="0" r="0" t="0" b="0"/>
          <a:stretch/>
        </p:blipFill>
        <p:spPr>
          <a:xfrm>
            <a:off x="1599109" y="4127202"/>
            <a:ext cx="254000" cy="254000"/>
          </a:xfrm>
          <a:prstGeom prst="rect">
            <a:avLst/>
          </a:prstGeom>
        </p:spPr>
      </p:pic>
      <p:sp>
        <p:nvSpPr>
          <p:cNvPr id="24" name="Text 13"/>
          <p:cNvSpPr/>
          <p:nvPr/>
        </p:nvSpPr>
        <p:spPr>
          <a:xfrm>
            <a:off x="2075359" y="3822402"/>
            <a:ext cx="243483"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D6570"/>
                </a:solidFill>
                <a:latin typeface="Source Sans 3" pitchFamily="34" charset="0"/>
                <a:ea typeface="Source Sans 3" pitchFamily="34" charset="-122"/>
                <a:cs typeface="Source Sans 3" pitchFamily="34" charset="-120"/>
              </a:rPr>
              <a:t>…</a:t>
            </a:r>
            <a:endParaRPr lang="en-US" sz="1600" dirty="0"/>
          </a:p>
        </p:txBody>
      </p:sp>
      <p:sp>
        <p:nvSpPr>
          <p:cNvPr id="25" name="Shape 14"/>
          <p:cNvSpPr/>
          <p:nvPr/>
        </p:nvSpPr>
        <p:spPr>
          <a:xfrm>
            <a:off x="2375991" y="3478312"/>
            <a:ext cx="1320800" cy="972741"/>
          </a:xfrm>
          <a:prstGeom prst="rect">
            <a:avLst/>
          </a:prstGeom>
          <a:solidFill>
            <a:srgbClr val="F1F2F3"/>
          </a:solidFill>
          <a:ln w="12700">
            <a:solidFill>
              <a:srgbClr val="6B7178"/>
            </a:solidFill>
            <a:prstDash val="solid"/>
          </a:ln>
        </p:spPr>
      </p:sp>
      <p:sp>
        <p:nvSpPr>
          <p:cNvPr id="26" name="Text 15"/>
          <p:cNvSpPr/>
          <p:nvPr/>
        </p:nvSpPr>
        <p:spPr>
          <a:xfrm>
            <a:off x="2499221" y="3548162"/>
            <a:ext cx="11250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046"/>
                </a:solidFill>
                <a:latin typeface="Source Sans 3" pitchFamily="34" charset="0"/>
                <a:ea typeface="Source Sans 3" pitchFamily="34" charset="-122"/>
                <a:cs typeface="Source Sans 3" pitchFamily="34" charset="-120"/>
              </a:rPr>
              <a:t>Compute Node n</a:t>
            </a:r>
            <a:endParaRPr lang="en-US" sz="1200" dirty="0"/>
          </a:p>
        </p:txBody>
      </p:sp>
      <p:sp>
        <p:nvSpPr>
          <p:cNvPr id="27" name="Text 16"/>
          <p:cNvSpPr/>
          <p:nvPr/>
        </p:nvSpPr>
        <p:spPr>
          <a:xfrm>
            <a:off x="2598738" y="3805932"/>
            <a:ext cx="875209" cy="276820"/>
          </a:xfrm>
          <a:prstGeom prst="rect">
            <a:avLst/>
          </a:prstGeom>
          <a:solidFill>
            <a:srgbClr val="FFFFFF"/>
          </a:solidFill>
          <a:ln w="12700">
            <a:solidFill>
              <a:srgbClr val="6B7178"/>
            </a:solidFill>
            <a:prstDash val="solid"/>
          </a:ln>
        </p:spPr>
        <p:txBody>
          <a:bodyPr wrap="none" lIns="0" tIns="0" rIns="0" bIns="0" rtlCol="0" anchor="ctr">
            <a:normAutofit/>
          </a:bodyPr>
          <a:lstStyle/>
          <a:p>
            <a:pPr algn="ctr" indent="0" marL="0">
              <a:lnSpc>
                <a:spcPts val="1680"/>
              </a:lnSpc>
              <a:buNone/>
            </a:pPr>
            <a:r>
              <a:rPr lang="en-US" sz="1200" dirty="0">
                <a:solidFill>
                  <a:srgbClr val="3B4046"/>
                </a:solidFill>
                <a:latin typeface="Source Sans 3" pitchFamily="34" charset="0"/>
                <a:ea typeface="Source Sans 3" pitchFamily="34" charset="-122"/>
                <a:cs typeface="Source Sans 3" pitchFamily="34" charset="-120"/>
              </a:rPr>
              <a:t>Node Slices</a:t>
            </a:r>
            <a:endParaRPr lang="en-US" sz="1200" dirty="0"/>
          </a:p>
        </p:txBody>
      </p:sp>
      <p:pic>
        <p:nvPicPr>
          <p:cNvPr id="28" name="Image 9" descr="Database">    </p:cNvPr>
          <p:cNvPicPr>
            <a:picLocks noChangeAspect="1"/>
          </p:cNvPicPr>
          <p:nvPr/>
        </p:nvPicPr>
        <p:blipFill>
          <a:blip r:embed="rId10"/>
          <a:srcRect l="0" r="0" t="0" b="0"/>
          <a:stretch/>
        </p:blipFill>
        <p:spPr>
          <a:xfrm>
            <a:off x="2490291" y="4127202"/>
            <a:ext cx="254000" cy="254000"/>
          </a:xfrm>
          <a:prstGeom prst="rect">
            <a:avLst/>
          </a:prstGeom>
        </p:spPr>
      </p:pic>
      <p:pic>
        <p:nvPicPr>
          <p:cNvPr id="29" name="Image 10" descr="Database">    </p:cNvPr>
          <p:cNvPicPr>
            <a:picLocks noChangeAspect="1"/>
          </p:cNvPicPr>
          <p:nvPr/>
        </p:nvPicPr>
        <p:blipFill>
          <a:blip r:embed="rId11"/>
          <a:srcRect l="0" r="0" t="0" b="0"/>
          <a:stretch/>
        </p:blipFill>
        <p:spPr>
          <a:xfrm>
            <a:off x="2769691" y="4127202"/>
            <a:ext cx="254000" cy="254000"/>
          </a:xfrm>
          <a:prstGeom prst="rect">
            <a:avLst/>
          </a:prstGeom>
        </p:spPr>
      </p:pic>
      <p:pic>
        <p:nvPicPr>
          <p:cNvPr id="30" name="Image 11" descr="Database">    </p:cNvPr>
          <p:cNvPicPr>
            <a:picLocks noChangeAspect="1"/>
          </p:cNvPicPr>
          <p:nvPr/>
        </p:nvPicPr>
        <p:blipFill>
          <a:blip r:embed="rId12"/>
          <a:srcRect l="0" r="0" t="0" b="0"/>
          <a:stretch/>
        </p:blipFill>
        <p:spPr>
          <a:xfrm>
            <a:off x="3049091" y="4127202"/>
            <a:ext cx="254000" cy="254000"/>
          </a:xfrm>
          <a:prstGeom prst="rect">
            <a:avLst/>
          </a:prstGeom>
        </p:spPr>
      </p:pic>
      <p:pic>
        <p:nvPicPr>
          <p:cNvPr id="31" name="Image 12" descr="Database">    </p:cNvPr>
          <p:cNvPicPr>
            <a:picLocks noChangeAspect="1"/>
          </p:cNvPicPr>
          <p:nvPr/>
        </p:nvPicPr>
        <p:blipFill>
          <a:blip r:embed="rId13"/>
          <a:srcRect l="0" r="0" t="0" b="0"/>
          <a:stretch/>
        </p:blipFill>
        <p:spPr>
          <a:xfrm>
            <a:off x="3328491" y="4127202"/>
            <a:ext cx="254000" cy="254000"/>
          </a:xfrm>
          <a:prstGeom prst="rect">
            <a:avLst/>
          </a:prstGeom>
        </p:spPr>
      </p:pic>
      <p:sp>
        <p:nvSpPr>
          <p:cNvPr id="32" name="Text 17"/>
          <p:cNvSpPr/>
          <p:nvPr/>
        </p:nvSpPr>
        <p:spPr>
          <a:xfrm>
            <a:off x="1374378" y="4546302"/>
            <a:ext cx="164534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B4046"/>
                </a:solidFill>
                <a:latin typeface="Source Sans 3" pitchFamily="34" charset="0"/>
                <a:ea typeface="Source Sans 3" pitchFamily="34" charset="-122"/>
                <a:cs typeface="Source Sans 3" pitchFamily="34" charset="-120"/>
              </a:rPr>
              <a:t>Data Warehouse Cluster</a:t>
            </a:r>
            <a:endParaRPr lang="en-US" sz="1200" dirty="0"/>
          </a:p>
        </p:txBody>
      </p:sp>
      <p:sp>
        <p:nvSpPr>
          <p:cNvPr id="33" name="Shape 18"/>
          <p:cNvSpPr/>
          <p:nvPr/>
        </p:nvSpPr>
        <p:spPr>
          <a:xfrm>
            <a:off x="4140200" y="1364555"/>
            <a:ext cx="7594600" cy="0"/>
          </a:xfrm>
          <a:prstGeom prst="line">
            <a:avLst/>
          </a:prstGeom>
          <a:noFill/>
          <a:ln w="6350">
            <a:solidFill>
              <a:srgbClr val="8A8F94"/>
            </a:solidFill>
            <a:prstDash val="solid"/>
          </a:ln>
        </p:spPr>
      </p:sp>
      <p:pic>
        <p:nvPicPr>
          <p:cNvPr id="34" name="Image 13" descr="Settings">    </p:cNvPr>
          <p:cNvPicPr>
            <a:picLocks noChangeAspect="1"/>
          </p:cNvPicPr>
          <p:nvPr/>
        </p:nvPicPr>
        <p:blipFill>
          <a:blip r:embed="rId14"/>
          <a:srcRect l="0" r="0" t="0" b="0"/>
          <a:stretch/>
        </p:blipFill>
        <p:spPr>
          <a:xfrm>
            <a:off x="4140200" y="1031180"/>
            <a:ext cx="304800" cy="304800"/>
          </a:xfrm>
          <a:prstGeom prst="rect">
            <a:avLst/>
          </a:prstGeom>
        </p:spPr>
      </p:pic>
      <p:sp>
        <p:nvSpPr>
          <p:cNvPr id="35" name="Text 19"/>
          <p:cNvSpPr/>
          <p:nvPr/>
        </p:nvSpPr>
        <p:spPr>
          <a:xfrm>
            <a:off x="4490339" y="1031180"/>
            <a:ext cx="7351522" cy="330200"/>
          </a:xfrm>
          <a:prstGeom prst="rect">
            <a:avLst/>
          </a:prstGeom>
          <a:noFill/>
          <a:ln/>
        </p:spPr>
        <p:txBody>
          <a:bodyPr wrap="square" lIns="0" tIns="0" rIns="0" bIns="0" rtlCol="0" anchor="t">
            <a:normAutofit/>
          </a:bodyPr>
          <a:lstStyle/>
          <a:p>
            <a:pPr algn="ctr" indent="0" marL="0">
              <a:lnSpc>
                <a:spcPts val="2400"/>
              </a:lnSpc>
              <a:buNone/>
            </a:pPr>
            <a:r>
              <a:rPr lang="en-US" sz="2000" dirty="0">
                <a:solidFill>
                  <a:srgbClr val="3B4046"/>
                </a:solidFill>
                <a:latin typeface="Source Sans 3" pitchFamily="34" charset="0"/>
                <a:ea typeface="Source Sans 3" pitchFamily="34" charset="-122"/>
                <a:cs typeface="Source Sans 3" pitchFamily="34" charset="-120"/>
              </a:rPr>
              <a:t>Applications/Infrastructure/Storage</a:t>
            </a:r>
            <a:endParaRPr lang="en-US" sz="2000" dirty="0"/>
          </a:p>
        </p:txBody>
      </p:sp>
      <p:sp>
        <p:nvSpPr>
          <p:cNvPr id="36" name="Text 20"/>
          <p:cNvSpPr/>
          <p:nvPr/>
        </p:nvSpPr>
        <p:spPr>
          <a:xfrm>
            <a:off x="4140200" y="1399480"/>
            <a:ext cx="7822438"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2E5D8C"/>
                </a:solidFill>
                <a:latin typeface="Source Sans 3" pitchFamily="34" charset="0"/>
                <a:ea typeface="Source Sans 3" pitchFamily="34" charset="-122"/>
                <a:cs typeface="Source Sans 3" pitchFamily="34" charset="-120"/>
              </a:rPr>
              <a:t>Client Applications</a:t>
            </a:r>
            <a:endParaRPr lang="en-US" sz="1200" dirty="0"/>
          </a:p>
        </p:txBody>
      </p:sp>
      <p:sp>
        <p:nvSpPr>
          <p:cNvPr id="37" name="Text 21"/>
          <p:cNvSpPr/>
          <p:nvPr/>
        </p:nvSpPr>
        <p:spPr>
          <a:xfrm>
            <a:off x="4175506" y="1606451"/>
            <a:ext cx="7781417" cy="726281"/>
          </a:xfrm>
          <a:prstGeom prst="rect">
            <a:avLst/>
          </a:prstGeom>
          <a:noFill/>
          <a:ln/>
        </p:spPr>
        <p:txBody>
          <a:bodyPr wrap="square" lIns="0" tIns="0" rIns="0" bIns="0" rtlCol="0" anchor="t">
            <a:normAutofit/>
          </a:bodyPr>
          <a:lstStyle/>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Amazon Redshift integrates with various data loading and ETL (extract, transform, and load) tools and business intelligence (BI) reporting, data mining, and analytics tools.</a:t>
            </a:r>
            <a:endParaRPr lang="en-US" sz="1200" dirty="0"/>
          </a:p>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Allows for ODBC and JDBC connections along with built in Amazon Redshift console, command line interface (CLI), API, or SDK to run queries.</a:t>
            </a:r>
            <a:endParaRPr lang="en-US" sz="1200" dirty="0"/>
          </a:p>
        </p:txBody>
      </p:sp>
      <p:sp>
        <p:nvSpPr>
          <p:cNvPr id="38" name="Text 22"/>
          <p:cNvSpPr/>
          <p:nvPr/>
        </p:nvSpPr>
        <p:spPr>
          <a:xfrm>
            <a:off x="4140200" y="2339082"/>
            <a:ext cx="7822438"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2E5D8C"/>
                </a:solidFill>
                <a:latin typeface="Source Sans 3" pitchFamily="34" charset="0"/>
                <a:ea typeface="Source Sans 3" pitchFamily="34" charset="-122"/>
                <a:cs typeface="Source Sans 3" pitchFamily="34" charset="-120"/>
              </a:rPr>
              <a:t>Clusters</a:t>
            </a:r>
            <a:endParaRPr lang="en-US" sz="1200" dirty="0"/>
          </a:p>
        </p:txBody>
      </p:sp>
      <p:sp>
        <p:nvSpPr>
          <p:cNvPr id="39" name="Text 23"/>
          <p:cNvSpPr/>
          <p:nvPr/>
        </p:nvSpPr>
        <p:spPr>
          <a:xfrm>
            <a:off x="4175506" y="2546052"/>
            <a:ext cx="7781417" cy="2478484"/>
          </a:xfrm>
          <a:prstGeom prst="rect">
            <a:avLst/>
          </a:prstGeom>
          <a:noFill/>
          <a:ln/>
        </p:spPr>
        <p:txBody>
          <a:bodyPr wrap="square" lIns="0" tIns="0" rIns="0" bIns="0" rtlCol="0" anchor="t">
            <a:normAutofit/>
          </a:bodyPr>
          <a:lstStyle/>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The core infrastructure component of an Amazon Redshift data warehouse is a cluster composed of one or more compute nodes.</a:t>
            </a:r>
            <a:endParaRPr lang="en-US" sz="1200" dirty="0"/>
          </a:p>
          <a:p>
            <a:pPr algn="l" marL="155194" indent="-155194">
              <a:lnSpc>
                <a:spcPts val="1380"/>
              </a:lnSpc>
              <a:buSzPct val="100000"/>
              <a:buChar char="•"/>
            </a:pPr>
            <a:r>
              <a:rPr lang="en-US" sz="1200" b="1" dirty="0">
                <a:solidFill>
                  <a:srgbClr val="3B4046"/>
                </a:solidFill>
                <a:latin typeface="Source Sans 3" pitchFamily="34" charset="0"/>
                <a:ea typeface="Source Sans 3" pitchFamily="34" charset="-122"/>
                <a:cs typeface="Source Sans 3" pitchFamily="34" charset="-120"/>
              </a:rPr>
              <a:t>If a cluster is provisioned with two or more compute nodes, an additional leader node coordinates the compute nodes and handles external communication.</a:t>
            </a:r>
            <a:endParaRPr lang="en-US" sz="1200" dirty="0"/>
          </a:p>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Your client application interacts directly only with the leader node. The compute nodes are transparent to external applications.</a:t>
            </a:r>
            <a:endParaRPr lang="en-US" sz="1200" dirty="0"/>
          </a:p>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The leader node manages communications with client programs and all communication with compute nodes.</a:t>
            </a:r>
            <a:endParaRPr lang="en-US" sz="1200" dirty="0"/>
          </a:p>
          <a:p>
            <a:pPr algn="l" marL="155194" indent="-155194">
              <a:lnSpc>
                <a:spcPts val="1380"/>
              </a:lnSpc>
              <a:buSzPct val="100000"/>
              <a:buChar char="•"/>
            </a:pPr>
            <a:r>
              <a:rPr lang="en-US" sz="1200" b="1" dirty="0">
                <a:solidFill>
                  <a:srgbClr val="3B4046"/>
                </a:solidFill>
                <a:latin typeface="Source Sans 3" pitchFamily="34" charset="0"/>
                <a:ea typeface="Source Sans 3" pitchFamily="34" charset="-122"/>
                <a:cs typeface="Source Sans 3" pitchFamily="34" charset="-120"/>
              </a:rPr>
              <a:t>The leader node compiles code for individual elements of the execution plan and assigns the code to individual compute nodes.</a:t>
            </a:r>
            <a:endParaRPr lang="en-US" sz="1200" dirty="0"/>
          </a:p>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Each compute node has its own dedicated CPU, memory, and attached disk storage, and each compute node is partitioned into slices that are allocated a portion of memory and disk space to be used for processing a portion of the workload.</a:t>
            </a:r>
            <a:endParaRPr lang="en-US" sz="1200" dirty="0"/>
          </a:p>
          <a:p>
            <a:pPr algn="l" marL="155194" indent="-155194">
              <a:lnSpc>
                <a:spcPts val="1380"/>
              </a:lnSpc>
              <a:buSzPct val="100000"/>
              <a:buChar char="•"/>
            </a:pPr>
            <a:r>
              <a:rPr lang="en-US" sz="1200" b="1" dirty="0">
                <a:solidFill>
                  <a:srgbClr val="3B4046"/>
                </a:solidFill>
                <a:latin typeface="Source Sans 3" pitchFamily="34" charset="0"/>
                <a:ea typeface="Source Sans 3" pitchFamily="34" charset="-122"/>
                <a:cs typeface="Source Sans 3" pitchFamily="34" charset="-120"/>
              </a:rPr>
              <a:t>AWS requires more management and administration from the IT resource to create and manage resources for the warehouse environment.</a:t>
            </a:r>
            <a:endParaRPr lang="en-US" sz="1200" dirty="0"/>
          </a:p>
        </p:txBody>
      </p:sp>
      <p:sp>
        <p:nvSpPr>
          <p:cNvPr id="40" name="Text 24"/>
          <p:cNvSpPr/>
          <p:nvPr/>
        </p:nvSpPr>
        <p:spPr>
          <a:xfrm>
            <a:off x="4140200" y="5030887"/>
            <a:ext cx="7822438"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2E5D8C"/>
                </a:solidFill>
                <a:latin typeface="Source Sans 3" pitchFamily="34" charset="0"/>
                <a:ea typeface="Source Sans 3" pitchFamily="34" charset="-122"/>
                <a:cs typeface="Source Sans 3" pitchFamily="34" charset="-120"/>
              </a:rPr>
              <a:t>Databases</a:t>
            </a:r>
            <a:endParaRPr lang="en-US" sz="1200" dirty="0"/>
          </a:p>
        </p:txBody>
      </p:sp>
      <p:sp>
        <p:nvSpPr>
          <p:cNvPr id="41" name="Text 25"/>
          <p:cNvSpPr/>
          <p:nvPr/>
        </p:nvSpPr>
        <p:spPr>
          <a:xfrm>
            <a:off x="4175506" y="5237857"/>
            <a:ext cx="7781417" cy="1427163"/>
          </a:xfrm>
          <a:prstGeom prst="rect">
            <a:avLst/>
          </a:prstGeom>
          <a:noFill/>
          <a:ln/>
        </p:spPr>
        <p:txBody>
          <a:bodyPr wrap="square" lIns="0" tIns="0" rIns="0" bIns="0" rtlCol="0" anchor="t">
            <a:normAutofit/>
          </a:bodyPr>
          <a:lstStyle/>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Cluster contains one or more databases (based on PostgreSQL)</a:t>
            </a:r>
            <a:endParaRPr lang="en-US" sz="1200" dirty="0"/>
          </a:p>
          <a:p>
            <a:pPr algn="l" marL="155194" indent="-155194">
              <a:lnSpc>
                <a:spcPts val="1380"/>
              </a:lnSpc>
              <a:buSzPct val="100000"/>
              <a:buChar char="•"/>
            </a:pPr>
            <a:r>
              <a:rPr lang="en-US" sz="1200" b="1" dirty="0">
                <a:solidFill>
                  <a:srgbClr val="3B4046"/>
                </a:solidFill>
                <a:latin typeface="Source Sans 3" pitchFamily="34" charset="0"/>
                <a:ea typeface="Source Sans 3" pitchFamily="34" charset="-122"/>
                <a:cs typeface="Source Sans 3" pitchFamily="34" charset="-120"/>
              </a:rPr>
              <a:t>The database storage is not separated from the compute resources, unless you use the highest tier nodes (ra3.16xlarge).</a:t>
            </a:r>
            <a:endParaRPr lang="en-US" sz="1200" dirty="0"/>
          </a:p>
          <a:p>
            <a:pPr algn="l" marL="155194" indent="-155194">
              <a:lnSpc>
                <a:spcPts val="1380"/>
              </a:lnSpc>
              <a:buSzPct val="100000"/>
              <a:buChar char="•"/>
            </a:pPr>
            <a:r>
              <a:rPr lang="en-US" sz="1200" b="1" dirty="0">
                <a:solidFill>
                  <a:srgbClr val="3B4046"/>
                </a:solidFill>
                <a:latin typeface="Source Sans 3" pitchFamily="34" charset="0"/>
                <a:ea typeface="Source Sans 3" pitchFamily="34" charset="-122"/>
                <a:cs typeface="Source Sans 3" pitchFamily="34" charset="-120"/>
              </a:rPr>
              <a:t>AWS does require more management from the data architect to define distribution keys and distribution of the data across the nodes as well as defining column compression types.</a:t>
            </a:r>
            <a:endParaRPr lang="en-US" sz="1200" dirty="0"/>
          </a:p>
          <a:p>
            <a:pPr algn="l" marL="155194" indent="-155194">
              <a:lnSpc>
                <a:spcPts val="1380"/>
              </a:lnSpc>
              <a:buSzPct val="100000"/>
              <a:buChar char="•"/>
            </a:pPr>
            <a:r>
              <a:rPr lang="en-US" sz="1200" b="1" dirty="0">
                <a:solidFill>
                  <a:srgbClr val="3B4046"/>
                </a:solidFill>
                <a:latin typeface="Source Sans 3" pitchFamily="34" charset="0"/>
                <a:ea typeface="Source Sans 3" pitchFamily="34" charset="-122"/>
                <a:cs typeface="Source Sans 3" pitchFamily="34" charset="-120"/>
              </a:rPr>
              <a:t>An RDBMS system that can run any model of database (star schema, snowflake schema, data vault models, or normalized tables).</a:t>
            </a:r>
            <a:endParaRPr lang="en-US" sz="1200" dirty="0"/>
          </a:p>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Uses columnar storage, meaning each data block stores a single column for multiple rows.</a:t>
            </a:r>
            <a:endParaRPr lang="en-US" sz="1200" dirty="0"/>
          </a:p>
        </p:txBody>
      </p:sp>
      <p:sp>
        <p:nvSpPr>
          <p:cNvPr id="42" name="Text 26"/>
          <p:cNvSpPr/>
          <p:nvPr/>
        </p:nvSpPr>
        <p:spPr>
          <a:xfrm>
            <a:off x="457200" y="6512620"/>
            <a:ext cx="26162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7F7EF"/>
                </a:solidFill>
                <a:latin typeface="Source Sans 3" pitchFamily="34" charset="0"/>
                <a:ea typeface="Source Sans 3" pitchFamily="34" charset="-122"/>
                <a:cs typeface="Source Sans 3" pitchFamily="34" charset="-120"/>
              </a:rPr>
              <a:t>Confidential</a:t>
            </a:r>
            <a:endParaRPr lang="en-US" sz="1300" dirty="0"/>
          </a:p>
        </p:txBody>
      </p:sp>
      <p:sp>
        <p:nvSpPr>
          <p:cNvPr id="43" name="Text 27"/>
          <p:cNvSpPr/>
          <p:nvPr/>
        </p:nvSpPr>
        <p:spPr>
          <a:xfrm>
            <a:off x="11049000" y="6512620"/>
            <a:ext cx="6858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F7F7EF"/>
                </a:solidFill>
                <a:latin typeface="Source Sans 3" pitchFamily="34" charset="0"/>
                <a:ea typeface="Source Sans 3" pitchFamily="34" charset="-122"/>
                <a:cs typeface="Source Sans 3" pitchFamily="34" charset="-120"/>
              </a:rPr>
              <a:t>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82" r="-82" t="0" b="0"/>
          <a:stretch/>
        </p:blipFill>
        <p:spPr>
          <a:xfrm>
            <a:off x="0" y="5651500"/>
            <a:ext cx="12192000" cy="1206500"/>
          </a:xfrm>
          <a:prstGeom prst="rect">
            <a:avLst/>
          </a:prstGeom>
        </p:spPr>
      </p:pic>
      <p:sp>
        <p:nvSpPr>
          <p:cNvPr id="3" name="Text 0"/>
          <p:cNvSpPr/>
          <p:nvPr/>
        </p:nvSpPr>
        <p:spPr>
          <a:xfrm>
            <a:off x="457200" y="228600"/>
            <a:ext cx="11615928" cy="434280"/>
          </a:xfrm>
          <a:prstGeom prst="rect">
            <a:avLst/>
          </a:prstGeom>
          <a:noFill/>
          <a:ln/>
        </p:spPr>
        <p:txBody>
          <a:bodyPr wrap="square" lIns="0" tIns="0" rIns="0" bIns="0" rtlCol="0" anchor="t">
            <a:normAutofit/>
          </a:bodyPr>
          <a:lstStyle/>
          <a:p>
            <a:pPr algn="l" indent="0" marL="0">
              <a:lnSpc>
                <a:spcPts val="3220"/>
              </a:lnSpc>
              <a:buNone/>
            </a:pPr>
            <a:r>
              <a:rPr lang="en-US" sz="2800" dirty="0">
                <a:solidFill>
                  <a:srgbClr val="3B4046"/>
                </a:solidFill>
                <a:latin typeface="Source Sans 3" pitchFamily="34" charset="0"/>
                <a:ea typeface="Source Sans 3" pitchFamily="34" charset="-122"/>
                <a:cs typeface="Source Sans 3" pitchFamily="34" charset="-120"/>
              </a:rPr>
              <a:t>Cost – Not a Apples to Apples Comparison</a:t>
            </a:r>
            <a:endParaRPr lang="en-US" sz="2800" dirty="0"/>
          </a:p>
        </p:txBody>
      </p:sp>
      <p:sp>
        <p:nvSpPr>
          <p:cNvPr id="4" name="Shape 1"/>
          <p:cNvSpPr/>
          <p:nvPr/>
        </p:nvSpPr>
        <p:spPr>
          <a:xfrm>
            <a:off x="457200" y="840680"/>
            <a:ext cx="11277600" cy="19050"/>
          </a:xfrm>
          <a:prstGeom prst="rect">
            <a:avLst/>
          </a:prstGeom>
          <a:solidFill>
            <a:srgbClr val="5F7F9C"/>
          </a:solidFill>
          <a:ln/>
        </p:spPr>
      </p:sp>
      <p:sp>
        <p:nvSpPr>
          <p:cNvPr id="5" name="Shape 2"/>
          <p:cNvSpPr/>
          <p:nvPr/>
        </p:nvSpPr>
        <p:spPr>
          <a:xfrm>
            <a:off x="457200" y="859730"/>
            <a:ext cx="11277600" cy="19050"/>
          </a:xfrm>
          <a:prstGeom prst="rect">
            <a:avLst/>
          </a:prstGeom>
          <a:solidFill>
            <a:srgbClr val="A9B53A"/>
          </a:solidFill>
          <a:ln/>
        </p:spPr>
      </p:sp>
      <p:sp>
        <p:nvSpPr>
          <p:cNvPr id="6" name="Shape 3"/>
          <p:cNvSpPr/>
          <p:nvPr/>
        </p:nvSpPr>
        <p:spPr>
          <a:xfrm>
            <a:off x="609600" y="1364555"/>
            <a:ext cx="5308600" cy="0"/>
          </a:xfrm>
          <a:prstGeom prst="line">
            <a:avLst/>
          </a:prstGeom>
          <a:noFill/>
          <a:ln w="6350">
            <a:solidFill>
              <a:srgbClr val="8A8F94"/>
            </a:solidFill>
            <a:prstDash val="solid"/>
          </a:ln>
        </p:spPr>
      </p:sp>
      <p:pic>
        <p:nvPicPr>
          <p:cNvPr id="7" name="Image 1" descr="Database">    </p:cNvPr>
          <p:cNvPicPr>
            <a:picLocks noChangeAspect="1"/>
          </p:cNvPicPr>
          <p:nvPr/>
        </p:nvPicPr>
        <p:blipFill>
          <a:blip r:embed="rId2"/>
          <a:srcRect l="0" r="0" t="0" b="0"/>
          <a:stretch/>
        </p:blipFill>
        <p:spPr>
          <a:xfrm>
            <a:off x="609600" y="1031180"/>
            <a:ext cx="304800" cy="304800"/>
          </a:xfrm>
          <a:prstGeom prst="rect">
            <a:avLst/>
          </a:prstGeom>
        </p:spPr>
      </p:pic>
      <p:sp>
        <p:nvSpPr>
          <p:cNvPr id="8" name="Text 4"/>
          <p:cNvSpPr/>
          <p:nvPr/>
        </p:nvSpPr>
        <p:spPr>
          <a:xfrm>
            <a:off x="994029" y="1031180"/>
            <a:ext cx="4996942" cy="330200"/>
          </a:xfrm>
          <a:prstGeom prst="rect">
            <a:avLst/>
          </a:prstGeom>
          <a:noFill/>
          <a:ln/>
        </p:spPr>
        <p:txBody>
          <a:bodyPr wrap="square" lIns="0" tIns="0" rIns="0" bIns="0" rtlCol="0" anchor="t">
            <a:normAutofit/>
          </a:bodyPr>
          <a:lstStyle/>
          <a:p>
            <a:pPr algn="ctr" indent="0" marL="0">
              <a:lnSpc>
                <a:spcPts val="2400"/>
              </a:lnSpc>
              <a:buNone/>
            </a:pPr>
            <a:r>
              <a:rPr lang="en-US" sz="2000" dirty="0">
                <a:solidFill>
                  <a:srgbClr val="3B4046"/>
                </a:solidFill>
                <a:latin typeface="Source Sans 3" pitchFamily="34" charset="0"/>
                <a:ea typeface="Source Sans 3" pitchFamily="34" charset="-122"/>
                <a:cs typeface="Source Sans 3" pitchFamily="34" charset="-120"/>
              </a:rPr>
              <a:t>Snowflake</a:t>
            </a:r>
            <a:endParaRPr lang="en-US" sz="2000" dirty="0"/>
          </a:p>
        </p:txBody>
      </p:sp>
      <p:sp>
        <p:nvSpPr>
          <p:cNvPr id="9" name="Text 5"/>
          <p:cNvSpPr/>
          <p:nvPr/>
        </p:nvSpPr>
        <p:spPr>
          <a:xfrm>
            <a:off x="609600" y="1393130"/>
            <a:ext cx="5467858"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2E5D8C"/>
                </a:solidFill>
                <a:latin typeface="Source Sans 3" pitchFamily="34" charset="0"/>
                <a:ea typeface="Source Sans 3" pitchFamily="34" charset="-122"/>
                <a:cs typeface="Source Sans 3" pitchFamily="34" charset="-120"/>
              </a:rPr>
              <a:t>Disclaimer</a:t>
            </a:r>
            <a:endParaRPr lang="en-US" sz="1200" dirty="0"/>
          </a:p>
        </p:txBody>
      </p:sp>
      <p:sp>
        <p:nvSpPr>
          <p:cNvPr id="10" name="Text 6"/>
          <p:cNvSpPr/>
          <p:nvPr/>
        </p:nvSpPr>
        <p:spPr>
          <a:xfrm>
            <a:off x="644906" y="1593751"/>
            <a:ext cx="5426837" cy="200620"/>
          </a:xfrm>
          <a:prstGeom prst="rect">
            <a:avLst/>
          </a:prstGeom>
          <a:noFill/>
          <a:ln/>
        </p:spPr>
        <p:txBody>
          <a:bodyPr wrap="square" lIns="0" tIns="0" rIns="0" bIns="0" rtlCol="0" anchor="t">
            <a:normAutofit/>
          </a:bodyPr>
          <a:lstStyle/>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Various pricing tiers to work with based on needs.</a:t>
            </a:r>
            <a:endParaRPr lang="en-US" sz="1200" dirty="0"/>
          </a:p>
        </p:txBody>
      </p:sp>
      <p:sp>
        <p:nvSpPr>
          <p:cNvPr id="11" name="Text 7"/>
          <p:cNvSpPr/>
          <p:nvPr/>
        </p:nvSpPr>
        <p:spPr>
          <a:xfrm>
            <a:off x="609600" y="1794371"/>
            <a:ext cx="5467858"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2E5D8C"/>
                </a:solidFill>
                <a:latin typeface="Source Sans 3" pitchFamily="34" charset="0"/>
                <a:ea typeface="Source Sans 3" pitchFamily="34" charset="-122"/>
                <a:cs typeface="Source Sans 3" pitchFamily="34" charset="-120"/>
              </a:rPr>
              <a:t>Production</a:t>
            </a:r>
            <a:endParaRPr lang="en-US" sz="1200" dirty="0"/>
          </a:p>
        </p:txBody>
      </p:sp>
      <p:sp>
        <p:nvSpPr>
          <p:cNvPr id="12" name="Text 8"/>
          <p:cNvSpPr/>
          <p:nvPr/>
        </p:nvSpPr>
        <p:spPr>
          <a:xfrm>
            <a:off x="644906" y="1994991"/>
            <a:ext cx="5426837" cy="551061"/>
          </a:xfrm>
          <a:prstGeom prst="rect">
            <a:avLst/>
          </a:prstGeom>
          <a:noFill/>
          <a:ln/>
        </p:spPr>
        <p:txBody>
          <a:bodyPr wrap="square" lIns="0" tIns="0" rIns="0" bIns="0" rtlCol="0" anchor="t">
            <a:normAutofit/>
          </a:bodyPr>
          <a:lstStyle/>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Storage: (On demand) - 20TB * $40.00/TB = ~$9,600/year, (Reserved) – 20TB * $23.00/TB = ~$5,520/year</a:t>
            </a:r>
            <a:endParaRPr lang="en-US" sz="1200" dirty="0"/>
          </a:p>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Compute (separate warehouses for workloads):</a:t>
            </a:r>
            <a:endParaRPr lang="en-US" sz="1200" dirty="0"/>
          </a:p>
        </p:txBody>
      </p:sp>
      <p:sp>
        <p:nvSpPr>
          <p:cNvPr id="13" name="Text 9"/>
          <p:cNvSpPr/>
          <p:nvPr/>
        </p:nvSpPr>
        <p:spPr>
          <a:xfrm>
            <a:off x="1025906" y="2546052"/>
            <a:ext cx="5034407" cy="1076722"/>
          </a:xfrm>
          <a:prstGeom prst="rect">
            <a:avLst/>
          </a:prstGeom>
          <a:noFill/>
          <a:ln/>
        </p:spPr>
        <p:txBody>
          <a:bodyPr wrap="square" lIns="0" tIns="0" rIns="0" bIns="0" rtlCol="0" anchor="t">
            <a:normAutofit/>
          </a:bodyPr>
          <a:lstStyle/>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Ad-hoc Analytics – Large – 300 hours/month * 8 credits per hour @ $4.00/credit per month = $115,200/year</a:t>
            </a:r>
            <a:endParaRPr lang="en-US" sz="1200" dirty="0"/>
          </a:p>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Analytic Reporting Tools – Medium – 240 hours/month * 4 credits per hour @ $4.00/credit per month = $46,080/year</a:t>
            </a:r>
            <a:endParaRPr lang="en-US" sz="1200" dirty="0"/>
          </a:p>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ELT/ETL – Small – 240 hour/month * 2 credits per hour @ $4.00/credit per month = $23,040/year</a:t>
            </a:r>
            <a:endParaRPr lang="en-US" sz="1200" dirty="0"/>
          </a:p>
        </p:txBody>
      </p:sp>
      <p:sp>
        <p:nvSpPr>
          <p:cNvPr id="14" name="Text 10"/>
          <p:cNvSpPr/>
          <p:nvPr/>
        </p:nvSpPr>
        <p:spPr>
          <a:xfrm>
            <a:off x="609600" y="3622774"/>
            <a:ext cx="5467858"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2E5D8C"/>
                </a:solidFill>
                <a:latin typeface="Source Sans 3" pitchFamily="34" charset="0"/>
                <a:ea typeface="Source Sans 3" pitchFamily="34" charset="-122"/>
                <a:cs typeface="Source Sans 3" pitchFamily="34" charset="-120"/>
              </a:rPr>
              <a:t>Development</a:t>
            </a:r>
            <a:endParaRPr lang="en-US" sz="1200" dirty="0"/>
          </a:p>
        </p:txBody>
      </p:sp>
      <p:sp>
        <p:nvSpPr>
          <p:cNvPr id="15" name="Text 11"/>
          <p:cNvSpPr/>
          <p:nvPr/>
        </p:nvSpPr>
        <p:spPr>
          <a:xfrm>
            <a:off x="644906" y="3823395"/>
            <a:ext cx="5426837" cy="375841"/>
          </a:xfrm>
          <a:prstGeom prst="rect">
            <a:avLst/>
          </a:prstGeom>
          <a:noFill/>
          <a:ln/>
        </p:spPr>
        <p:txBody>
          <a:bodyPr wrap="square" lIns="0" tIns="0" rIns="0" bIns="0" rtlCol="0" anchor="t">
            <a:normAutofit/>
          </a:bodyPr>
          <a:lstStyle/>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Compute: All-In-One – Small – 220 hours/month * 2 credits per hour @ $4.00/credit per month = $21,120 per year</a:t>
            </a:r>
            <a:endParaRPr lang="en-US" sz="1200" dirty="0"/>
          </a:p>
        </p:txBody>
      </p:sp>
      <p:sp>
        <p:nvSpPr>
          <p:cNvPr id="16" name="Text 12"/>
          <p:cNvSpPr/>
          <p:nvPr/>
        </p:nvSpPr>
        <p:spPr>
          <a:xfrm>
            <a:off x="609600" y="4199235"/>
            <a:ext cx="5467858"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2E5D8C"/>
                </a:solidFill>
                <a:latin typeface="Source Sans 3" pitchFamily="34" charset="0"/>
                <a:ea typeface="Source Sans 3" pitchFamily="34" charset="-122"/>
                <a:cs typeface="Source Sans 3" pitchFamily="34" charset="-120"/>
              </a:rPr>
              <a:t>Test</a:t>
            </a:r>
            <a:endParaRPr lang="en-US" sz="1200" dirty="0"/>
          </a:p>
        </p:txBody>
      </p:sp>
      <p:sp>
        <p:nvSpPr>
          <p:cNvPr id="17" name="Text 13"/>
          <p:cNvSpPr/>
          <p:nvPr/>
        </p:nvSpPr>
        <p:spPr>
          <a:xfrm>
            <a:off x="644906" y="4399855"/>
            <a:ext cx="5426837" cy="375841"/>
          </a:xfrm>
          <a:prstGeom prst="rect">
            <a:avLst/>
          </a:prstGeom>
          <a:noFill/>
          <a:ln/>
        </p:spPr>
        <p:txBody>
          <a:bodyPr wrap="square" lIns="0" tIns="0" rIns="0" bIns="0" rtlCol="0" anchor="t">
            <a:normAutofit/>
          </a:bodyPr>
          <a:lstStyle/>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Compute: All-In-One – Medium – 220 hours/month * 4 credits per hour @ $4.00/credit per month = $42,240 per year</a:t>
            </a:r>
            <a:endParaRPr lang="en-US" sz="1200" dirty="0"/>
          </a:p>
        </p:txBody>
      </p:sp>
      <p:sp>
        <p:nvSpPr>
          <p:cNvPr id="18" name="Text 14"/>
          <p:cNvSpPr/>
          <p:nvPr/>
        </p:nvSpPr>
        <p:spPr>
          <a:xfrm>
            <a:off x="609600" y="4775696"/>
            <a:ext cx="5467858"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2E5D8C"/>
                </a:solidFill>
                <a:latin typeface="Source Sans 3" pitchFamily="34" charset="0"/>
                <a:ea typeface="Source Sans 3" pitchFamily="34" charset="-122"/>
                <a:cs typeface="Source Sans 3" pitchFamily="34" charset="-120"/>
              </a:rPr>
              <a:t>Compute + Storage for All Environments</a:t>
            </a:r>
            <a:endParaRPr lang="en-US" sz="1200" dirty="0"/>
          </a:p>
        </p:txBody>
      </p:sp>
      <p:sp>
        <p:nvSpPr>
          <p:cNvPr id="19" name="Text 15"/>
          <p:cNvSpPr/>
          <p:nvPr/>
        </p:nvSpPr>
        <p:spPr>
          <a:xfrm>
            <a:off x="644906" y="4976316"/>
            <a:ext cx="5426837" cy="375841"/>
          </a:xfrm>
          <a:prstGeom prst="rect">
            <a:avLst/>
          </a:prstGeom>
          <a:noFill/>
          <a:ln/>
        </p:spPr>
        <p:txBody>
          <a:bodyPr wrap="square" lIns="0" tIns="0" rIns="0" bIns="0" rtlCol="0" anchor="t">
            <a:normAutofit/>
          </a:bodyPr>
          <a:lstStyle/>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~$247,680 + ~$9,600  +/-  ~$100,000 for scale up/down and/or longer/shorter processing time</a:t>
            </a:r>
            <a:endParaRPr lang="en-US" sz="1200" dirty="0"/>
          </a:p>
        </p:txBody>
      </p:sp>
      <p:sp>
        <p:nvSpPr>
          <p:cNvPr id="20" name="Text 16"/>
          <p:cNvSpPr/>
          <p:nvPr/>
        </p:nvSpPr>
        <p:spPr>
          <a:xfrm>
            <a:off x="609600" y="5352157"/>
            <a:ext cx="5467858"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2E5D8C"/>
                </a:solidFill>
                <a:latin typeface="Source Sans 3" pitchFamily="34" charset="0"/>
                <a:ea typeface="Source Sans 3" pitchFamily="34" charset="-122"/>
                <a:cs typeface="Source Sans 3" pitchFamily="34" charset="-120"/>
              </a:rPr>
              <a:t>Data Integration Tools</a:t>
            </a:r>
            <a:endParaRPr lang="en-US" sz="1200" dirty="0"/>
          </a:p>
        </p:txBody>
      </p:sp>
      <p:sp>
        <p:nvSpPr>
          <p:cNvPr id="21" name="Text 17"/>
          <p:cNvSpPr/>
          <p:nvPr/>
        </p:nvSpPr>
        <p:spPr>
          <a:xfrm>
            <a:off x="644906" y="5552777"/>
            <a:ext cx="5426837" cy="551061"/>
          </a:xfrm>
          <a:prstGeom prst="rect">
            <a:avLst/>
          </a:prstGeom>
          <a:noFill/>
          <a:ln/>
        </p:spPr>
        <p:txBody>
          <a:bodyPr wrap="square" lIns="0" tIns="0" rIns="0" bIns="0" rtlCol="0" anchor="t">
            <a:normAutofit/>
          </a:bodyPr>
          <a:lstStyle/>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SSIS</a:t>
            </a:r>
            <a:endParaRPr lang="en-US" sz="1200" dirty="0"/>
          </a:p>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Snowflake Data Pipeline</a:t>
            </a:r>
            <a:endParaRPr lang="en-US" sz="1200" dirty="0"/>
          </a:p>
          <a:p>
            <a:pPr algn="l" marL="155194" indent="-155194">
              <a:lnSpc>
                <a:spcPts val="1380"/>
              </a:lnSpc>
              <a:buSzPct val="100000"/>
              <a:buChar char="•"/>
            </a:pPr>
            <a:r>
              <a:rPr lang="en-US" sz="1200" u="sng" dirty="0">
                <a:solidFill>
                  <a:srgbClr val="3B4046"/>
                </a:solidFill>
                <a:latin typeface="Source Sans 3" pitchFamily="34" charset="0"/>
                <a:ea typeface="Source Sans 3" pitchFamily="34" charset="-122"/>
                <a:cs typeface="Source Sans 3" pitchFamily="34" charset="-120"/>
              </a:rPr>
              <a:t>Bryteflow</a:t>
            </a:r>
            <a:r>
              <a:rPr lang="en-US" sz="1200" dirty="0">
                <a:solidFill>
                  <a:srgbClr val="3B4046"/>
                </a:solidFill>
                <a:latin typeface="Source Sans 3" pitchFamily="34" charset="0"/>
                <a:ea typeface="Source Sans 3" pitchFamily="34" charset="-122"/>
                <a:cs typeface="Source Sans 3" pitchFamily="34" charset="-120"/>
              </a:rPr>
              <a:t>: ~ $9,700 - $32,500</a:t>
            </a:r>
            <a:endParaRPr lang="en-US" sz="1200" dirty="0"/>
          </a:p>
        </p:txBody>
      </p:sp>
      <p:sp>
        <p:nvSpPr>
          <p:cNvPr id="22" name="Shape 18"/>
          <p:cNvSpPr/>
          <p:nvPr/>
        </p:nvSpPr>
        <p:spPr>
          <a:xfrm>
            <a:off x="6273800" y="1364555"/>
            <a:ext cx="5308600" cy="0"/>
          </a:xfrm>
          <a:prstGeom prst="line">
            <a:avLst/>
          </a:prstGeom>
          <a:noFill/>
          <a:ln w="6350">
            <a:solidFill>
              <a:srgbClr val="8A8F94"/>
            </a:solidFill>
            <a:prstDash val="solid"/>
          </a:ln>
        </p:spPr>
      </p:sp>
      <p:pic>
        <p:nvPicPr>
          <p:cNvPr id="23" name="Image 2" descr="Cloud">    </p:cNvPr>
          <p:cNvPicPr>
            <a:picLocks noChangeAspect="1"/>
          </p:cNvPicPr>
          <p:nvPr/>
        </p:nvPicPr>
        <p:blipFill>
          <a:blip r:embed="rId3"/>
          <a:srcRect l="0" r="0" t="0" b="0"/>
          <a:stretch/>
        </p:blipFill>
        <p:spPr>
          <a:xfrm>
            <a:off x="6273800" y="1031180"/>
            <a:ext cx="304800" cy="304800"/>
          </a:xfrm>
          <a:prstGeom prst="rect">
            <a:avLst/>
          </a:prstGeom>
        </p:spPr>
      </p:pic>
      <p:sp>
        <p:nvSpPr>
          <p:cNvPr id="24" name="Text 19"/>
          <p:cNvSpPr/>
          <p:nvPr/>
        </p:nvSpPr>
        <p:spPr>
          <a:xfrm>
            <a:off x="6658229" y="1031180"/>
            <a:ext cx="4996942" cy="330200"/>
          </a:xfrm>
          <a:prstGeom prst="rect">
            <a:avLst/>
          </a:prstGeom>
          <a:noFill/>
          <a:ln/>
        </p:spPr>
        <p:txBody>
          <a:bodyPr wrap="square" lIns="0" tIns="0" rIns="0" bIns="0" rtlCol="0" anchor="t">
            <a:normAutofit/>
          </a:bodyPr>
          <a:lstStyle/>
          <a:p>
            <a:pPr algn="ctr" indent="0" marL="0">
              <a:lnSpc>
                <a:spcPts val="2400"/>
              </a:lnSpc>
              <a:buNone/>
            </a:pPr>
            <a:r>
              <a:rPr lang="en-US" sz="2000" dirty="0">
                <a:solidFill>
                  <a:srgbClr val="3B4046"/>
                </a:solidFill>
                <a:latin typeface="Source Sans 3" pitchFamily="34" charset="0"/>
                <a:ea typeface="Source Sans 3" pitchFamily="34" charset="-122"/>
                <a:cs typeface="Source Sans 3" pitchFamily="34" charset="-120"/>
              </a:rPr>
              <a:t>AWS Redshift</a:t>
            </a:r>
            <a:endParaRPr lang="en-US" sz="2000" dirty="0"/>
          </a:p>
        </p:txBody>
      </p:sp>
      <p:sp>
        <p:nvSpPr>
          <p:cNvPr id="25" name="Text 20"/>
          <p:cNvSpPr/>
          <p:nvPr/>
        </p:nvSpPr>
        <p:spPr>
          <a:xfrm>
            <a:off x="6273800" y="1393130"/>
            <a:ext cx="5467858"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2E5D8C"/>
                </a:solidFill>
                <a:latin typeface="Source Sans 3" pitchFamily="34" charset="0"/>
                <a:ea typeface="Source Sans 3" pitchFamily="34" charset="-122"/>
                <a:cs typeface="Source Sans 3" pitchFamily="34" charset="-120"/>
              </a:rPr>
              <a:t>Disclaimer</a:t>
            </a:r>
            <a:endParaRPr lang="en-US" sz="1200" dirty="0"/>
          </a:p>
        </p:txBody>
      </p:sp>
      <p:sp>
        <p:nvSpPr>
          <p:cNvPr id="26" name="Text 21"/>
          <p:cNvSpPr/>
          <p:nvPr/>
        </p:nvSpPr>
        <p:spPr>
          <a:xfrm>
            <a:off x="6309106" y="1593751"/>
            <a:ext cx="5426837" cy="551061"/>
          </a:xfrm>
          <a:prstGeom prst="rect">
            <a:avLst/>
          </a:prstGeom>
          <a:noFill/>
          <a:ln/>
        </p:spPr>
        <p:txBody>
          <a:bodyPr wrap="square" lIns="0" tIns="0" rIns="0" bIns="0" rtlCol="0" anchor="t">
            <a:normAutofit/>
          </a:bodyPr>
          <a:lstStyle/>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Various configuration models to work with.</a:t>
            </a:r>
            <a:endParaRPr lang="en-US" sz="1200" dirty="0"/>
          </a:p>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Various pricing options to work with. On-demand, 1 year or 3 year reserved with No Up-front, Partial Up-front, or All Up-front payment</a:t>
            </a:r>
            <a:endParaRPr lang="en-US" sz="1200" dirty="0"/>
          </a:p>
        </p:txBody>
      </p:sp>
      <p:sp>
        <p:nvSpPr>
          <p:cNvPr id="27" name="Text 22"/>
          <p:cNvSpPr/>
          <p:nvPr/>
        </p:nvSpPr>
        <p:spPr>
          <a:xfrm>
            <a:off x="6273800" y="2144812"/>
            <a:ext cx="5467858"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2E5D8C"/>
                </a:solidFill>
                <a:latin typeface="Source Sans 3" pitchFamily="34" charset="0"/>
                <a:ea typeface="Source Sans 3" pitchFamily="34" charset="-122"/>
                <a:cs typeface="Source Sans 3" pitchFamily="34" charset="-120"/>
              </a:rPr>
              <a:t>Production</a:t>
            </a:r>
            <a:endParaRPr lang="en-US" sz="1200" dirty="0"/>
          </a:p>
        </p:txBody>
      </p:sp>
      <p:sp>
        <p:nvSpPr>
          <p:cNvPr id="28" name="Text 23"/>
          <p:cNvSpPr/>
          <p:nvPr/>
        </p:nvSpPr>
        <p:spPr>
          <a:xfrm>
            <a:off x="6309106" y="2345432"/>
            <a:ext cx="5426837" cy="726281"/>
          </a:xfrm>
          <a:prstGeom prst="rect">
            <a:avLst/>
          </a:prstGeom>
          <a:noFill/>
          <a:ln/>
        </p:spPr>
        <p:txBody>
          <a:bodyPr wrap="square" lIns="0" tIns="0" rIns="0" bIns="0" rtlCol="0" anchor="t">
            <a:normAutofit/>
          </a:bodyPr>
          <a:lstStyle/>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Compute &amp; Storage (On-demand): dc2.8xlarge (32 cpu, 244Gib mem, 2.56TB SSD) 8 node cluster - $38.40 * 730 hours/month = ~$336,384 year</a:t>
            </a:r>
            <a:endParaRPr lang="en-US" sz="1200" dirty="0"/>
          </a:p>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Compute &amp; Storage (Up-front 1year): dc2.8xlarge (32 cpu, 244Gib mem, 2.56TB SSD) 8 node cluster - $25.28 * 730 hours/month = ~$221,452 year</a:t>
            </a:r>
            <a:endParaRPr lang="en-US" sz="1200" dirty="0"/>
          </a:p>
        </p:txBody>
      </p:sp>
      <p:sp>
        <p:nvSpPr>
          <p:cNvPr id="29" name="Text 24"/>
          <p:cNvSpPr/>
          <p:nvPr/>
        </p:nvSpPr>
        <p:spPr>
          <a:xfrm>
            <a:off x="6273800" y="3071713"/>
            <a:ext cx="5467858"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2E5D8C"/>
                </a:solidFill>
                <a:latin typeface="Source Sans 3" pitchFamily="34" charset="0"/>
                <a:ea typeface="Source Sans 3" pitchFamily="34" charset="-122"/>
                <a:cs typeface="Source Sans 3" pitchFamily="34" charset="-120"/>
              </a:rPr>
              <a:t>Development</a:t>
            </a:r>
            <a:endParaRPr lang="en-US" sz="1200" dirty="0"/>
          </a:p>
        </p:txBody>
      </p:sp>
      <p:sp>
        <p:nvSpPr>
          <p:cNvPr id="30" name="Text 25"/>
          <p:cNvSpPr/>
          <p:nvPr/>
        </p:nvSpPr>
        <p:spPr>
          <a:xfrm>
            <a:off x="6309106" y="3272334"/>
            <a:ext cx="5426837" cy="726281"/>
          </a:xfrm>
          <a:prstGeom prst="rect">
            <a:avLst/>
          </a:prstGeom>
          <a:noFill/>
          <a:ln/>
        </p:spPr>
        <p:txBody>
          <a:bodyPr wrap="square" lIns="0" tIns="0" rIns="0" bIns="0" rtlCol="0" anchor="t">
            <a:normAutofit/>
          </a:bodyPr>
          <a:lstStyle/>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Compute &amp; Storage (On-demand): dc2.8xlarge (32 cpu, 244Gib mem, 2.56TB SSD) 8 node cluster - $38.49 * 220 hours/month = ~$101,376 year</a:t>
            </a:r>
            <a:endParaRPr lang="en-US" sz="1200" dirty="0"/>
          </a:p>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Compute &amp; Storage (Up-front): dc2.8xlarge (32 cpu, 244Gib mem, 2.56TB SSD) 8 node cluster - $25.28 * 220 hours/month = ~$66,739 year</a:t>
            </a:r>
            <a:endParaRPr lang="en-US" sz="1200" dirty="0"/>
          </a:p>
        </p:txBody>
      </p:sp>
      <p:sp>
        <p:nvSpPr>
          <p:cNvPr id="31" name="Text 26"/>
          <p:cNvSpPr/>
          <p:nvPr/>
        </p:nvSpPr>
        <p:spPr>
          <a:xfrm>
            <a:off x="6273800" y="3998615"/>
            <a:ext cx="5467858"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2E5D8C"/>
                </a:solidFill>
                <a:latin typeface="Source Sans 3" pitchFamily="34" charset="0"/>
                <a:ea typeface="Source Sans 3" pitchFamily="34" charset="-122"/>
                <a:cs typeface="Source Sans 3" pitchFamily="34" charset="-120"/>
              </a:rPr>
              <a:t>Test</a:t>
            </a:r>
            <a:endParaRPr lang="en-US" sz="1200" dirty="0"/>
          </a:p>
        </p:txBody>
      </p:sp>
      <p:sp>
        <p:nvSpPr>
          <p:cNvPr id="32" name="Text 27"/>
          <p:cNvSpPr/>
          <p:nvPr/>
        </p:nvSpPr>
        <p:spPr>
          <a:xfrm>
            <a:off x="6309106" y="4199235"/>
            <a:ext cx="5426837" cy="726281"/>
          </a:xfrm>
          <a:prstGeom prst="rect">
            <a:avLst/>
          </a:prstGeom>
          <a:noFill/>
          <a:ln/>
        </p:spPr>
        <p:txBody>
          <a:bodyPr wrap="square" lIns="0" tIns="0" rIns="0" bIns="0" rtlCol="0" anchor="t">
            <a:normAutofit/>
          </a:bodyPr>
          <a:lstStyle/>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Compute &amp; Storage (On-demand): dc2.8xlarge (32 cpu, 244Gib mem, 2.56TB SSD) 8 node cluster - $38.49 * 220 hours/month = ~$101,376 year</a:t>
            </a:r>
            <a:endParaRPr lang="en-US" sz="1200" dirty="0"/>
          </a:p>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Compute &amp; Storage (Up-front): dc2.8xlarge (32 cpu, 244Gib mem, 2.56TB SSD) 8 node cluster - $25.28 * 220 hours/month = ~$66,739 year</a:t>
            </a:r>
            <a:endParaRPr lang="en-US" sz="1200" dirty="0"/>
          </a:p>
        </p:txBody>
      </p:sp>
      <p:sp>
        <p:nvSpPr>
          <p:cNvPr id="33" name="Text 28"/>
          <p:cNvSpPr/>
          <p:nvPr/>
        </p:nvSpPr>
        <p:spPr>
          <a:xfrm>
            <a:off x="6273800" y="4925516"/>
            <a:ext cx="5467858"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2E5D8C"/>
                </a:solidFill>
                <a:latin typeface="Source Sans 3" pitchFamily="34" charset="0"/>
                <a:ea typeface="Source Sans 3" pitchFamily="34" charset="-122"/>
                <a:cs typeface="Source Sans 3" pitchFamily="34" charset="-120"/>
              </a:rPr>
              <a:t>Compute + Storage for All Environments</a:t>
            </a:r>
            <a:endParaRPr lang="en-US" sz="1200" dirty="0"/>
          </a:p>
        </p:txBody>
      </p:sp>
      <p:sp>
        <p:nvSpPr>
          <p:cNvPr id="34" name="Text 29"/>
          <p:cNvSpPr/>
          <p:nvPr/>
        </p:nvSpPr>
        <p:spPr>
          <a:xfrm>
            <a:off x="6309106" y="5126137"/>
            <a:ext cx="5426837" cy="375841"/>
          </a:xfrm>
          <a:prstGeom prst="rect">
            <a:avLst/>
          </a:prstGeom>
          <a:noFill/>
          <a:ln/>
        </p:spPr>
        <p:txBody>
          <a:bodyPr wrap="square" lIns="0" tIns="0" rIns="0" bIns="0" rtlCol="0" anchor="t">
            <a:normAutofit/>
          </a:bodyPr>
          <a:lstStyle/>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~$354,930 +/-  ~$100,000 for scale up/down and/or longer/shorter processing time</a:t>
            </a:r>
            <a:endParaRPr lang="en-US" sz="1200" dirty="0"/>
          </a:p>
        </p:txBody>
      </p:sp>
      <p:sp>
        <p:nvSpPr>
          <p:cNvPr id="35" name="Text 30"/>
          <p:cNvSpPr/>
          <p:nvPr/>
        </p:nvSpPr>
        <p:spPr>
          <a:xfrm>
            <a:off x="6273800" y="5501977"/>
            <a:ext cx="5467858"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2E5D8C"/>
                </a:solidFill>
                <a:latin typeface="Source Sans 3" pitchFamily="34" charset="0"/>
                <a:ea typeface="Source Sans 3" pitchFamily="34" charset="-122"/>
                <a:cs typeface="Source Sans 3" pitchFamily="34" charset="-120"/>
              </a:rPr>
              <a:t>Data Integration Tools</a:t>
            </a:r>
            <a:endParaRPr lang="en-US" sz="1200" dirty="0"/>
          </a:p>
        </p:txBody>
      </p:sp>
      <p:sp>
        <p:nvSpPr>
          <p:cNvPr id="36" name="Text 31"/>
          <p:cNvSpPr/>
          <p:nvPr/>
        </p:nvSpPr>
        <p:spPr>
          <a:xfrm>
            <a:off x="6309106" y="5702598"/>
            <a:ext cx="5426837" cy="551061"/>
          </a:xfrm>
          <a:prstGeom prst="rect">
            <a:avLst/>
          </a:prstGeom>
          <a:noFill/>
          <a:ln/>
        </p:spPr>
        <p:txBody>
          <a:bodyPr wrap="square" lIns="0" tIns="0" rIns="0" bIns="0" rtlCol="0" anchor="t">
            <a:normAutofit/>
          </a:bodyPr>
          <a:lstStyle/>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SSIS</a:t>
            </a:r>
            <a:endParaRPr lang="en-US" sz="1200" dirty="0"/>
          </a:p>
          <a:p>
            <a:pPr algn="l" marL="155194" indent="-155194">
              <a:lnSpc>
                <a:spcPts val="1380"/>
              </a:lnSpc>
              <a:buSzPct val="100000"/>
              <a:buChar char="•"/>
            </a:pPr>
            <a:r>
              <a:rPr lang="en-US" sz="1200" dirty="0">
                <a:solidFill>
                  <a:srgbClr val="3B4046"/>
                </a:solidFill>
                <a:latin typeface="Source Sans 3" pitchFamily="34" charset="0"/>
                <a:ea typeface="Source Sans 3" pitchFamily="34" charset="-122"/>
                <a:cs typeface="Source Sans 3" pitchFamily="34" charset="-120"/>
              </a:rPr>
              <a:t>AWS Data Pipeline</a:t>
            </a:r>
            <a:endParaRPr lang="en-US" sz="1200" dirty="0"/>
          </a:p>
          <a:p>
            <a:pPr algn="l" marL="155194" indent="-155194">
              <a:lnSpc>
                <a:spcPts val="1380"/>
              </a:lnSpc>
              <a:buSzPct val="100000"/>
              <a:buChar char="•"/>
            </a:pPr>
            <a:r>
              <a:rPr lang="en-US" sz="1200" u="sng" dirty="0">
                <a:solidFill>
                  <a:srgbClr val="3B4046"/>
                </a:solidFill>
                <a:latin typeface="Source Sans 3" pitchFamily="34" charset="0"/>
                <a:ea typeface="Source Sans 3" pitchFamily="34" charset="-122"/>
                <a:cs typeface="Source Sans 3" pitchFamily="34" charset="-120"/>
              </a:rPr>
              <a:t>Bryteflow</a:t>
            </a:r>
            <a:r>
              <a:rPr lang="en-US" sz="1200" dirty="0">
                <a:solidFill>
                  <a:srgbClr val="3B4046"/>
                </a:solidFill>
                <a:latin typeface="Source Sans 3" pitchFamily="34" charset="0"/>
                <a:ea typeface="Source Sans 3" pitchFamily="34" charset="-122"/>
                <a:cs typeface="Source Sans 3" pitchFamily="34" charset="-120"/>
              </a:rPr>
              <a:t>: ~ $9,700 - $32,500</a:t>
            </a:r>
            <a:endParaRPr lang="en-US" sz="1200" dirty="0"/>
          </a:p>
        </p:txBody>
      </p:sp>
      <p:sp>
        <p:nvSpPr>
          <p:cNvPr id="37" name="Text 32"/>
          <p:cNvSpPr/>
          <p:nvPr/>
        </p:nvSpPr>
        <p:spPr>
          <a:xfrm>
            <a:off x="457200" y="6512620"/>
            <a:ext cx="26162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7F7EF"/>
                </a:solidFill>
                <a:latin typeface="Source Sans 3" pitchFamily="34" charset="0"/>
                <a:ea typeface="Source Sans 3" pitchFamily="34" charset="-122"/>
                <a:cs typeface="Source Sans 3" pitchFamily="34" charset="-120"/>
              </a:rPr>
              <a:t>Confidential</a:t>
            </a:r>
            <a:endParaRPr lang="en-US" sz="1300" dirty="0"/>
          </a:p>
        </p:txBody>
      </p:sp>
      <p:sp>
        <p:nvSpPr>
          <p:cNvPr id="38" name="Text 33"/>
          <p:cNvSpPr/>
          <p:nvPr/>
        </p:nvSpPr>
        <p:spPr>
          <a:xfrm>
            <a:off x="11049000" y="6512620"/>
            <a:ext cx="6858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F7F7EF"/>
                </a:solidFill>
                <a:latin typeface="Source Sans 3" pitchFamily="34" charset="0"/>
                <a:ea typeface="Source Sans 3" pitchFamily="34" charset="-122"/>
                <a:cs typeface="Source Sans 3" pitchFamily="34" charset="-120"/>
              </a:rPr>
              <a:t>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82" r="-82" t="0" b="0"/>
          <a:stretch/>
        </p:blipFill>
        <p:spPr>
          <a:xfrm>
            <a:off x="0" y="5651500"/>
            <a:ext cx="12192000" cy="1206500"/>
          </a:xfrm>
          <a:prstGeom prst="rect">
            <a:avLst/>
          </a:prstGeom>
        </p:spPr>
      </p:pic>
      <p:sp>
        <p:nvSpPr>
          <p:cNvPr id="3" name="Text 0"/>
          <p:cNvSpPr/>
          <p:nvPr/>
        </p:nvSpPr>
        <p:spPr>
          <a:xfrm>
            <a:off x="457200" y="228600"/>
            <a:ext cx="11615928" cy="434280"/>
          </a:xfrm>
          <a:prstGeom prst="rect">
            <a:avLst/>
          </a:prstGeom>
          <a:noFill/>
          <a:ln/>
        </p:spPr>
        <p:txBody>
          <a:bodyPr wrap="square" lIns="0" tIns="0" rIns="0" bIns="0" rtlCol="0" anchor="t">
            <a:normAutofit/>
          </a:bodyPr>
          <a:lstStyle/>
          <a:p>
            <a:pPr algn="l" indent="0" marL="0">
              <a:lnSpc>
                <a:spcPts val="3220"/>
              </a:lnSpc>
              <a:buNone/>
            </a:pPr>
            <a:r>
              <a:rPr lang="en-US" sz="2800" dirty="0">
                <a:solidFill>
                  <a:srgbClr val="3B4046"/>
                </a:solidFill>
                <a:latin typeface="Source Sans 3" pitchFamily="34" charset="0"/>
                <a:ea typeface="Source Sans 3" pitchFamily="34" charset="-122"/>
                <a:cs typeface="Source Sans 3" pitchFamily="34" charset="-120"/>
              </a:rPr>
              <a:t>Appendix</a:t>
            </a:r>
            <a:endParaRPr lang="en-US" sz="2800" dirty="0"/>
          </a:p>
        </p:txBody>
      </p:sp>
      <p:sp>
        <p:nvSpPr>
          <p:cNvPr id="4" name="Shape 1"/>
          <p:cNvSpPr/>
          <p:nvPr/>
        </p:nvSpPr>
        <p:spPr>
          <a:xfrm>
            <a:off x="457200" y="840680"/>
            <a:ext cx="11277600" cy="19050"/>
          </a:xfrm>
          <a:prstGeom prst="rect">
            <a:avLst/>
          </a:prstGeom>
          <a:solidFill>
            <a:srgbClr val="5F7F9C"/>
          </a:solidFill>
          <a:ln/>
        </p:spPr>
      </p:sp>
      <p:sp>
        <p:nvSpPr>
          <p:cNvPr id="5" name="Shape 2"/>
          <p:cNvSpPr/>
          <p:nvPr/>
        </p:nvSpPr>
        <p:spPr>
          <a:xfrm>
            <a:off x="457200" y="859730"/>
            <a:ext cx="11277600" cy="19050"/>
          </a:xfrm>
          <a:prstGeom prst="rect">
            <a:avLst/>
          </a:prstGeom>
          <a:solidFill>
            <a:srgbClr val="A9B53A"/>
          </a:solidFill>
          <a:ln/>
        </p:spPr>
      </p:sp>
      <p:sp>
        <p:nvSpPr>
          <p:cNvPr id="6" name="Text 3"/>
          <p:cNvSpPr/>
          <p:nvPr/>
        </p:nvSpPr>
        <p:spPr>
          <a:xfrm>
            <a:off x="609600" y="1234380"/>
            <a:ext cx="1145895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8A8F94"/>
                </a:solidFill>
                <a:latin typeface="Source Sans 3" pitchFamily="34" charset="0"/>
                <a:ea typeface="Source Sans 3" pitchFamily="34" charset="-122"/>
                <a:cs typeface="Source Sans 3" pitchFamily="34" charset="-120"/>
              </a:rPr>
              <a:t>[Appendix content]</a:t>
            </a:r>
            <a:endParaRPr lang="en-US" sz="1600" dirty="0"/>
          </a:p>
        </p:txBody>
      </p:sp>
      <p:sp>
        <p:nvSpPr>
          <p:cNvPr id="7" name="Text 4"/>
          <p:cNvSpPr/>
          <p:nvPr/>
        </p:nvSpPr>
        <p:spPr>
          <a:xfrm>
            <a:off x="457200" y="6512620"/>
            <a:ext cx="26162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7F7EF"/>
                </a:solidFill>
                <a:latin typeface="Source Sans 3" pitchFamily="34" charset="0"/>
                <a:ea typeface="Source Sans 3" pitchFamily="34" charset="-122"/>
                <a:cs typeface="Source Sans 3" pitchFamily="34" charset="-120"/>
              </a:rPr>
              <a:t>Confidential</a:t>
            </a:r>
            <a:endParaRPr lang="en-US" sz="1300" dirty="0"/>
          </a:p>
        </p:txBody>
      </p:sp>
      <p:sp>
        <p:nvSpPr>
          <p:cNvPr id="8" name="Text 5"/>
          <p:cNvSpPr/>
          <p:nvPr/>
        </p:nvSpPr>
        <p:spPr>
          <a:xfrm>
            <a:off x="11049000" y="6512620"/>
            <a:ext cx="6858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F7F7EF"/>
                </a:solidFill>
                <a:latin typeface="Source Sans 3" pitchFamily="34" charset="0"/>
                <a:ea typeface="Source Sans 3" pitchFamily="34" charset="-122"/>
                <a:cs typeface="Source Sans 3" pitchFamily="34" charset="-120"/>
              </a:rPr>
              <a:t>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Snowflake &amp; AWS Redshift Evaluation</dc:title>
  <dc:subject>PptxGenJS Presentation</dc:subject>
  <dc:creator>PptxGenJS</dc:creator>
  <cp:lastModifiedBy>PptxGenJS</cp:lastModifiedBy>
  <cp:revision>1</cp:revision>
  <dcterms:created xsi:type="dcterms:W3CDTF">2026-09-30T01:24:22Z</dcterms:created>
  <dcterms:modified xsi:type="dcterms:W3CDTF">2026-09-30T01:24:22Z</dcterms:modified>
</cp:coreProperties>
</file>