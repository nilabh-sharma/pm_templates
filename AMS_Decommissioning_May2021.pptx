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docMetadata/LabelInfo.xml" ContentType="application/vnd.ms-office.classificationlabel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8"/>
  </p:notesMasterIdLst>
  <p:sldIdLst>
    <p:sldId id="262" r:id="rId3"/>
    <p:sldId id="260" r:id="rId4"/>
    <p:sldId id="258" r:id="rId5"/>
    <p:sldId id="259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F8A57"/>
    <a:srgbClr val="D9912B"/>
    <a:srgbClr val="1C2A40"/>
    <a:srgbClr val="D64545"/>
    <a:srgbClr val="8FBFD4"/>
    <a:srgbClr val="DDE1E6"/>
    <a:srgbClr val="19B86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-1878" y="-9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1F6F8B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Sheet1!$A$2:$A$4</c:f>
              <c:strCache>
                <c:ptCount val="3"/>
                <c:pt idx="0">
                  <c:v>Simple</c:v>
                </c:pt>
                <c:pt idx="1">
                  <c:v>Medium</c:v>
                </c:pt>
                <c:pt idx="2">
                  <c:v>Complex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16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9CC3D5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Sheet1!$A$2:$A$4</c:f>
              <c:strCache>
                <c:ptCount val="3"/>
                <c:pt idx="0">
                  <c:v>Simple</c:v>
                </c:pt>
                <c:pt idx="1">
                  <c:v>Medium</c:v>
                </c:pt>
                <c:pt idx="2">
                  <c:v>Complex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26</c:v>
                </c:pt>
                <c:pt idx="2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 hold</c:v>
                </c:pt>
              </c:strCache>
            </c:strRef>
          </c:tx>
          <c:spPr>
            <a:solidFill>
              <a:srgbClr val="E0962B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Sheet1!$A$2:$A$4</c:f>
              <c:strCache>
                <c:ptCount val="3"/>
                <c:pt idx="0">
                  <c:v>Simple</c:v>
                </c:pt>
                <c:pt idx="1">
                  <c:v>Medium</c:v>
                </c:pt>
                <c:pt idx="2">
                  <c:v>Complex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 be started</c:v>
                </c:pt>
              </c:strCache>
            </c:strRef>
          </c:tx>
          <c:spPr>
            <a:solidFill>
              <a:srgbClr val="E3E7EC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80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Sheet1!$A$2:$A$4</c:f>
              <c:strCache>
                <c:ptCount val="3"/>
                <c:pt idx="0">
                  <c:v>Simple</c:v>
                </c:pt>
                <c:pt idx="1">
                  <c:v>Medium</c:v>
                </c:pt>
                <c:pt idx="2">
                  <c:v>Complex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dLbls>
          <c:showVal val="1"/>
        </c:dLbls>
        <c:gapWidth val="60"/>
        <c:overlap val="100"/>
        <c:axId val="94050560"/>
        <c:axId val="94057600"/>
      </c:barChart>
      <c:catAx>
        <c:axId val="9405056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94057600"/>
        <c:crosses val="autoZero"/>
        <c:auto val="1"/>
        <c:lblAlgn val="ctr"/>
        <c:lblOffset val="100"/>
        <c:noMultiLvlLbl val="1"/>
      </c:catAx>
      <c:valAx>
        <c:axId val="94057600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numFmt formatCode="General" sourceLinked="0"/>
        <c:tickLblPos val="nextTo"/>
        <c:crossAx val="94050560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800">
              <a:solidFill>
                <a:srgbClr val="4B556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Retired</c:v>
                </c:pt>
              </c:strCache>
            </c:strRef>
          </c:tx>
          <c:spPr>
            <a:solidFill>
              <a:srgbClr val="9CC3D5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Sheet1!$A$2:$A$13</c:f>
              <c:strCache>
                <c:ptCount val="12"/>
                <c:pt idx="0">
                  <c:v>Jan
2021</c:v>
                </c:pt>
                <c:pt idx="1">
                  <c:v>Feb
2021</c:v>
                </c:pt>
                <c:pt idx="2">
                  <c:v>Mar
2021</c:v>
                </c:pt>
                <c:pt idx="3">
                  <c:v>Apr
2021</c:v>
                </c:pt>
                <c:pt idx="4">
                  <c:v>May
2021</c:v>
                </c:pt>
                <c:pt idx="5">
                  <c:v>Jun
2021</c:v>
                </c:pt>
                <c:pt idx="6">
                  <c:v>Jul
2021</c:v>
                </c:pt>
                <c:pt idx="7">
                  <c:v>Aug
2021</c:v>
                </c:pt>
                <c:pt idx="8">
                  <c:v>Sep
2021</c:v>
                </c:pt>
                <c:pt idx="9">
                  <c:v>Oct
2021</c:v>
                </c:pt>
                <c:pt idx="10">
                  <c:v>Nov
2021</c:v>
                </c:pt>
                <c:pt idx="11">
                  <c:v>Dec
2021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87</c:v>
                </c:pt>
                <c:pt idx="1">
                  <c:v>78</c:v>
                </c:pt>
                <c:pt idx="2">
                  <c:v>69</c:v>
                </c:pt>
                <c:pt idx="3">
                  <c:v>61</c:v>
                </c:pt>
                <c:pt idx="4">
                  <c:v>53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Retired + Data Archival</c:v>
                </c:pt>
              </c:strCache>
            </c:strRef>
          </c:tx>
          <c:spPr>
            <a:solidFill>
              <a:srgbClr val="1B2A41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Sheet1!$A$2:$A$13</c:f>
              <c:strCache>
                <c:ptCount val="12"/>
                <c:pt idx="0">
                  <c:v>Jan
2021</c:v>
                </c:pt>
                <c:pt idx="1">
                  <c:v>Feb
2021</c:v>
                </c:pt>
                <c:pt idx="2">
                  <c:v>Mar
2021</c:v>
                </c:pt>
                <c:pt idx="3">
                  <c:v>Apr
2021</c:v>
                </c:pt>
                <c:pt idx="4">
                  <c:v>May
2021</c:v>
                </c:pt>
                <c:pt idx="5">
                  <c:v>Jun
2021</c:v>
                </c:pt>
                <c:pt idx="6">
                  <c:v>Jul
2021</c:v>
                </c:pt>
                <c:pt idx="7">
                  <c:v>Aug
2021</c:v>
                </c:pt>
                <c:pt idx="8">
                  <c:v>Sep
2021</c:v>
                </c:pt>
                <c:pt idx="9">
                  <c:v>Oct
2021</c:v>
                </c:pt>
                <c:pt idx="10">
                  <c:v>Nov
2021</c:v>
                </c:pt>
                <c:pt idx="11">
                  <c:v>Dec
2021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50</c:v>
                </c:pt>
                <c:pt idx="2">
                  <c:v>45</c:v>
                </c:pt>
                <c:pt idx="3">
                  <c:v>41</c:v>
                </c:pt>
                <c:pt idx="4">
                  <c:v>35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Planned – Retired</c:v>
                </c:pt>
              </c:strCache>
            </c:strRef>
          </c:tx>
          <c:spPr>
            <a:solidFill>
              <a:srgbClr val="D6E6EE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Sheet1!$A$2:$A$13</c:f>
              <c:strCache>
                <c:ptCount val="12"/>
                <c:pt idx="0">
                  <c:v>Jan
2021</c:v>
                </c:pt>
                <c:pt idx="1">
                  <c:v>Feb
2021</c:v>
                </c:pt>
                <c:pt idx="2">
                  <c:v>Mar
2021</c:v>
                </c:pt>
                <c:pt idx="3">
                  <c:v>Apr
2021</c:v>
                </c:pt>
                <c:pt idx="4">
                  <c:v>May
2021</c:v>
                </c:pt>
                <c:pt idx="5">
                  <c:v>Jun
2021</c:v>
                </c:pt>
                <c:pt idx="6">
                  <c:v>Jul
2021</c:v>
                </c:pt>
                <c:pt idx="7">
                  <c:v>Aug
2021</c:v>
                </c:pt>
                <c:pt idx="8">
                  <c:v>Sep
2021</c:v>
                </c:pt>
                <c:pt idx="9">
                  <c:v>Oct
2021</c:v>
                </c:pt>
                <c:pt idx="10">
                  <c:v>Nov
2021</c:v>
                </c:pt>
                <c:pt idx="11">
                  <c:v>Dec
2021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42</c:v>
                </c:pt>
                <c:pt idx="6">
                  <c:v>32</c:v>
                </c:pt>
                <c:pt idx="7">
                  <c:v>24</c:v>
                </c:pt>
                <c:pt idx="8">
                  <c:v>14</c:v>
                </c:pt>
                <c:pt idx="9">
                  <c:v>6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Planned – Retired + Data Archival</c:v>
                </c:pt>
              </c:strCache>
            </c:strRef>
          </c:tx>
          <c:spPr>
            <a:solidFill>
              <a:srgbClr val="7D8AA0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Sheet1!$A$2:$A$13</c:f>
              <c:strCache>
                <c:ptCount val="12"/>
                <c:pt idx="0">
                  <c:v>Jan
2021</c:v>
                </c:pt>
                <c:pt idx="1">
                  <c:v>Feb
2021</c:v>
                </c:pt>
                <c:pt idx="2">
                  <c:v>Mar
2021</c:v>
                </c:pt>
                <c:pt idx="3">
                  <c:v>Apr
2021</c:v>
                </c:pt>
                <c:pt idx="4">
                  <c:v>May
2021</c:v>
                </c:pt>
                <c:pt idx="5">
                  <c:v>Jun
2021</c:v>
                </c:pt>
                <c:pt idx="6">
                  <c:v>Jul
2021</c:v>
                </c:pt>
                <c:pt idx="7">
                  <c:v>Aug
2021</c:v>
                </c:pt>
                <c:pt idx="8">
                  <c:v>Sep
2021</c:v>
                </c:pt>
                <c:pt idx="9">
                  <c:v>Oct
2021</c:v>
                </c:pt>
                <c:pt idx="10">
                  <c:v>Nov
2021</c:v>
                </c:pt>
                <c:pt idx="11">
                  <c:v>Dec
2021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28</c:v>
                </c:pt>
                <c:pt idx="6">
                  <c:v>22</c:v>
                </c:pt>
                <c:pt idx="7">
                  <c:v>16</c:v>
                </c:pt>
                <c:pt idx="8">
                  <c:v>10</c:v>
                </c:pt>
                <c:pt idx="9">
                  <c:v>4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On hold</c:v>
                </c:pt>
              </c:strCache>
            </c:strRef>
          </c:tx>
          <c:spPr>
            <a:solidFill>
              <a:srgbClr val="E0962B"/>
            </a:solidFill>
            <a:effectLst/>
          </c:spPr>
          <c:dLbls>
            <c:numFmt formatCode="#,##0;;" sourceLinked="0"/>
            <c:txPr>
              <a:bodyPr/>
              <a:lstStyle/>
              <a:p>
                <a:pPr>
                  <a:defRPr sz="75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Val val="1"/>
          </c:dLbls>
          <c:cat>
            <c:strRef>
              <c:f>Sheet1!$A$2:$A$13</c:f>
              <c:strCache>
                <c:ptCount val="12"/>
                <c:pt idx="0">
                  <c:v>Jan
2021</c:v>
                </c:pt>
                <c:pt idx="1">
                  <c:v>Feb
2021</c:v>
                </c:pt>
                <c:pt idx="2">
                  <c:v>Mar
2021</c:v>
                </c:pt>
                <c:pt idx="3">
                  <c:v>Apr
2021</c:v>
                </c:pt>
                <c:pt idx="4">
                  <c:v>May
2021</c:v>
                </c:pt>
                <c:pt idx="5">
                  <c:v>Jun
2021</c:v>
                </c:pt>
                <c:pt idx="6">
                  <c:v>Jul
2021</c:v>
                </c:pt>
                <c:pt idx="7">
                  <c:v>Aug
2021</c:v>
                </c:pt>
                <c:pt idx="8">
                  <c:v>Sep
2021</c:v>
                </c:pt>
                <c:pt idx="9">
                  <c:v>Oct
2021</c:v>
                </c:pt>
                <c:pt idx="10">
                  <c:v>Nov
2021</c:v>
                </c:pt>
                <c:pt idx="11">
                  <c:v>Dec
2021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0</c:v>
                </c:pt>
              </c:numCache>
            </c:numRef>
          </c:val>
        </c:ser>
        <c:dLbls>
          <c:showVal val="1"/>
        </c:dLbls>
        <c:gapWidth val="45"/>
        <c:overlap val="100"/>
        <c:axId val="171327872"/>
        <c:axId val="171329792"/>
      </c:barChart>
      <c:catAx>
        <c:axId val="1713278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171329792"/>
        <c:crosses val="autoZero"/>
        <c:auto val="1"/>
        <c:lblAlgn val="ctr"/>
        <c:lblOffset val="100"/>
        <c:noMultiLvlLbl val="1"/>
      </c:catAx>
      <c:valAx>
        <c:axId val="171329792"/>
        <c:scaling>
          <c:orientation val="minMax"/>
          <c:max val="160"/>
        </c:scaling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8A96A3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8A96A3"/>
                    </a:solidFill>
                    <a:latin typeface="Arial"/>
                  </a:rPr>
                  <a:t>Apps remaining</a:t>
                </a:r>
              </a:p>
            </c:rich>
          </c:tx>
          <c:layout/>
        </c:title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A96A3"/>
                </a:solidFill>
                <a:latin typeface="Arial"/>
              </a:defRPr>
            </a:pPr>
            <a:endParaRPr lang="en-US"/>
          </a:p>
        </c:txPr>
        <c:crossAx val="17132787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layout/>
      <c:txPr>
        <a:bodyPr/>
        <a:lstStyle/>
        <a:p>
          <a:pPr>
            <a:defRPr sz="750">
              <a:solidFill>
                <a:srgbClr val="4B556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4689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xmlns="" id="{B1A1A955-DA58-05D2-1115-AD4E16A0305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r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914400" algn="l"/>
                <a:tab pos="1828800" algn="l"/>
                <a:tab pos="2743200" algn="l"/>
              </a:tabLst>
              <a:defRPr/>
            </a:pPr>
            <a:fld id="{511FFA92-639C-498E-A36E-476F0FC6067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pPr marL="0" marR="0" lvl="0" indent="0" algn="r" defTabSz="914400" rtl="0" eaLnBrk="1" fontAlgn="base" latinLnBrk="0" hangingPunct="0">
                <a:lnSpc>
                  <a:spcPct val="93000"/>
                </a:lnSpc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>
                  <a:tab pos="914400" algn="l"/>
                  <a:tab pos="1828800" algn="l"/>
                  <a:tab pos="2743200" algn="l"/>
                </a:tabLst>
                <a:defRPr/>
              </a:pPr>
              <a:t>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3075" name="Rectangle 1">
            <a:extLst>
              <a:ext uri="{FF2B5EF4-FFF2-40B4-BE49-F238E27FC236}">
                <a16:creationId xmlns:a16="http://schemas.microsoft.com/office/drawing/2014/main" xmlns="" id="{72DEE43D-C82A-F9C8-790C-4CA940E9956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6" name="Text Box 2">
            <a:extLst>
              <a:ext uri="{FF2B5EF4-FFF2-40B4-BE49-F238E27FC236}">
                <a16:creationId xmlns:a16="http://schemas.microsoft.com/office/drawing/2014/main" xmlns="" id="{C2E58D99-BCE7-68E2-B214-01E38E373C5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215900" eaLnBrk="1">
              <a:spcBef>
                <a:spcPts val="13"/>
              </a:spcBef>
              <a:spcAft>
                <a:spcPts val="13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</a:pPr>
            <a:r>
              <a:rPr lang="en-US" altLang="en-US" sz="2000">
                <a:latin typeface="Arial" panose="020B0604020202020204" pitchFamily="34" charset="0"/>
                <a:cs typeface="Noto Sans CJK SC" charset="0"/>
              </a:rPr>
              <a:t>On Track. $3.2M savings realised to date. 58 of 150 decommissioned (39%); 64 in flight, 4 on hold, 24 not started. The 4 on-hold apps are the top risk: business stakeholders still use them for operational reporting. Key applications retired in May: SAP BW, Lotus Notes, Kronos. June: complete 18, start the remaining 24 by 30 Jun. 3 risks open; 15 ServiceNow tickets received, 14 closed, 1 in progress.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xmlns="" id="{2261731E-42D0-9940-042E-9A3762313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anchor="b"/>
          <a:lstStyle>
            <a:lvl1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914400" algn="l"/>
                <a:tab pos="1828800" algn="l"/>
                <a:tab pos="2743200" algn="l"/>
              </a:tabLst>
              <a:defRPr/>
            </a:pPr>
            <a:fld id="{CFAA5DDA-DB81-4E2E-80D1-C62DD401D4B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tabLst>
                  <a:tab pos="914400" algn="l"/>
                  <a:tab pos="1828800" algn="l"/>
                  <a:tab pos="2743200" algn="l"/>
                </a:tabLst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2CFA4F-69E7-797C-42E3-BA07289A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4123705-BAB1-8AE5-B8DE-F521B0F74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1F98514-AAE9-26AB-4417-30644FC50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F0C983-8148-2F2C-A87D-7352B62C7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615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7709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33948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366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24081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8352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50124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6063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80732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44606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47305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357889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D63737F-F02C-2C85-8964-569E043AD0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5992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5645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eaLnBrk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2pPr>
      <a:lvl3pPr algn="l" rtl="0" eaLnBrk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3pPr>
      <a:lvl4pPr algn="l" rtl="0" eaLnBrk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4pPr>
      <a:lvl5pPr algn="l" rtl="0" eaLnBrk="0" fontAlgn="base" hangingPunct="0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5pPr>
      <a:lvl6pPr marL="2514600" indent="-228600" algn="l" rtl="0" fontAlgn="base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6pPr>
      <a:lvl7pPr marL="2971800" indent="-228600" algn="l" rtl="0" fontAlgn="base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7pPr>
      <a:lvl8pPr marL="3429000" indent="-228600" algn="l" rtl="0" fontAlgn="base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8pPr>
      <a:lvl9pPr marL="3886200" indent="-228600" algn="l" rtl="0" fontAlgn="base">
        <a:lnSpc>
          <a:spcPct val="102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Noto Sans CJK SC" charset="0"/>
          <a:cs typeface="Noto Sans CJK SC" charset="0"/>
        </a:defRPr>
      </a:lvl9pPr>
    </p:titleStyle>
    <p:bodyStyle>
      <a:lvl1pPr marL="342900" indent="-342900" algn="l" rtl="0" eaLnBrk="0" fontAlgn="base" hangingPunct="0">
        <a:lnSpc>
          <a:spcPct val="102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2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02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02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rtl="0" fontAlgn="base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rtl="0" fontAlgn="base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rtl="0" fontAlgn="base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rtl="0" fontAlgn="base">
        <a:lnSpc>
          <a:spcPct val="102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E3DA6099-D309-1433-93EC-399942BA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533400"/>
            <a:ext cx="69850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AMS 3.0 Decommissioning </a:t>
            </a:r>
            <a:r>
              <a:rPr kumimoji="0" lang="en-US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Factory 2021</a:t>
            </a:r>
            <a:endParaRPr kumimoji="0" lang="en-US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1C2A4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E6A81C83-64D4-9689-8C6C-BBCF0B44D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003300"/>
            <a:ext cx="571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Programme status  ·  27 May 2021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9A4BD11F-19D2-BE63-4B97-ABD108BD4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3700" y="609600"/>
            <a:ext cx="3365500" cy="584200"/>
          </a:xfrm>
          <a:prstGeom prst="rect">
            <a:avLst/>
          </a:prstGeom>
          <a:solidFill>
            <a:srgbClr val="E6F2EA"/>
          </a:solidFill>
          <a:ln w="19080">
            <a:solidFill>
              <a:srgbClr val="2F8A57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C8B172B7-742D-642F-81FE-DF4B4BFEE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200" y="711200"/>
            <a:ext cx="31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F8A57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●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52609FFF-B2C0-62FD-367B-8CBA5F99F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800100"/>
            <a:ext cx="10795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6B4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Overall status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xmlns="" id="{A421373F-5884-DEC3-47AC-B674F857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0" y="711200"/>
            <a:ext cx="158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1F6B4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 Track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xmlns="" id="{BD0727E8-BAE9-A520-9B82-7C6A26142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397000"/>
            <a:ext cx="2286000" cy="2032000"/>
          </a:xfrm>
          <a:prstGeom prst="rect">
            <a:avLst/>
          </a:prstGeom>
          <a:solidFill>
            <a:srgbClr val="1C2A4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xmlns="" id="{3CA50B0F-1783-0D70-2BBB-FAC1EBD93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1600200"/>
            <a:ext cx="19050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FBFD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SAVINGS REALISED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xmlns="" id="{9ECEC308-6712-6DEE-EE92-F61E0F63C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1905000"/>
            <a:ext cx="19050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4F5F7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$3.2M</a:t>
            </a: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xmlns="" id="{DDD51201-5F9C-7681-CEA6-864C20E5D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2921000"/>
            <a:ext cx="18415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9D2DD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Achieved to date (as of May 2021)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xmlns="" id="{7BFDCF85-3E2F-F320-B95B-2AF7D70D2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1397000"/>
            <a:ext cx="5080000" cy="2032000"/>
          </a:xfrm>
          <a:prstGeom prst="rect">
            <a:avLst/>
          </a:prstGeom>
          <a:solidFill>
            <a:srgbClr val="FFFFFF"/>
          </a:solidFill>
          <a:ln w="9360">
            <a:solidFill>
              <a:srgbClr val="DDE1E6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xmlns="" id="{F5B7B33E-2350-6D57-58B7-5CE14748B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1600200"/>
            <a:ext cx="44450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DECOMMISSIONING PROGRESS</a:t>
            </a:r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xmlns="" id="{A9A7E2C3-78F2-9D02-E7C4-9E2518FA4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1841500"/>
            <a:ext cx="45720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58</a:t>
            </a: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2D3B4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of 150 applications decommissioned (39%)</a:t>
            </a:r>
          </a:p>
        </p:txBody>
      </p:sp>
      <p:sp>
        <p:nvSpPr>
          <p:cNvPr id="1039" name="Rectangle 15">
            <a:extLst>
              <a:ext uri="{FF2B5EF4-FFF2-40B4-BE49-F238E27FC236}">
                <a16:creationId xmlns:a16="http://schemas.microsoft.com/office/drawing/2014/main" xmlns="" id="{082EEB52-5154-C928-D021-80EE8B48E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2336800"/>
            <a:ext cx="1765300" cy="203200"/>
          </a:xfrm>
          <a:prstGeom prst="rect">
            <a:avLst/>
          </a:prstGeom>
          <a:solidFill>
            <a:srgbClr val="2E7D8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0" name="Rectangle 16">
            <a:extLst>
              <a:ext uri="{FF2B5EF4-FFF2-40B4-BE49-F238E27FC236}">
                <a16:creationId xmlns:a16="http://schemas.microsoft.com/office/drawing/2014/main" xmlns="" id="{0430925B-2C9C-D9DF-2C08-185FCE9FC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300" y="2336800"/>
            <a:ext cx="1949450" cy="203200"/>
          </a:xfrm>
          <a:prstGeom prst="rect">
            <a:avLst/>
          </a:prstGeom>
          <a:solidFill>
            <a:srgbClr val="8FBFD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1" name="Rectangle 17">
            <a:extLst>
              <a:ext uri="{FF2B5EF4-FFF2-40B4-BE49-F238E27FC236}">
                <a16:creationId xmlns:a16="http://schemas.microsoft.com/office/drawing/2014/main" xmlns="" id="{2D65E4FD-039B-B1D1-761F-0F1D707BD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2336800"/>
            <a:ext cx="120650" cy="203200"/>
          </a:xfrm>
          <a:prstGeom prst="rect">
            <a:avLst/>
          </a:prstGeom>
          <a:solidFill>
            <a:srgbClr val="D9912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2" name="Rectangle 18">
            <a:extLst>
              <a:ext uri="{FF2B5EF4-FFF2-40B4-BE49-F238E27FC236}">
                <a16:creationId xmlns:a16="http://schemas.microsoft.com/office/drawing/2014/main" xmlns="" id="{9BAA3481-9C4D-E6C8-F6AD-3F8D1D6D9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336800"/>
            <a:ext cx="736600" cy="203200"/>
          </a:xfrm>
          <a:prstGeom prst="rect">
            <a:avLst/>
          </a:prstGeom>
          <a:solidFill>
            <a:srgbClr val="DDE1E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3" name="Rectangle 19">
            <a:extLst>
              <a:ext uri="{FF2B5EF4-FFF2-40B4-BE49-F238E27FC236}">
                <a16:creationId xmlns:a16="http://schemas.microsoft.com/office/drawing/2014/main" xmlns="" id="{21305F67-8BB1-EB79-7353-C7AFBBD4B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2628900"/>
            <a:ext cx="2159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58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Completed</a:t>
            </a:r>
          </a:p>
        </p:txBody>
      </p:sp>
      <p:sp>
        <p:nvSpPr>
          <p:cNvPr id="1044" name="Rectangle 20">
            <a:extLst>
              <a:ext uri="{FF2B5EF4-FFF2-40B4-BE49-F238E27FC236}">
                <a16:creationId xmlns:a16="http://schemas.microsoft.com/office/drawing/2014/main" xmlns="" id="{A2B52554-F6D3-225D-7FD0-CA866273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628900"/>
            <a:ext cx="2159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FBFD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64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In progress</a:t>
            </a:r>
          </a:p>
        </p:txBody>
      </p:sp>
      <p:sp>
        <p:nvSpPr>
          <p:cNvPr id="1045" name="Rectangle 21">
            <a:extLst>
              <a:ext uri="{FF2B5EF4-FFF2-40B4-BE49-F238E27FC236}">
                <a16:creationId xmlns:a16="http://schemas.microsoft.com/office/drawing/2014/main" xmlns="" id="{F6336BF0-B0F6-49C9-9A3B-940C61C2C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2844800"/>
            <a:ext cx="2159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9912B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On hold</a:t>
            </a:r>
          </a:p>
        </p:txBody>
      </p:sp>
      <p:sp>
        <p:nvSpPr>
          <p:cNvPr id="1046" name="Rectangle 22">
            <a:extLst>
              <a:ext uri="{FF2B5EF4-FFF2-40B4-BE49-F238E27FC236}">
                <a16:creationId xmlns:a16="http://schemas.microsoft.com/office/drawing/2014/main" xmlns="" id="{7607D37A-E32A-8C03-9251-7E5D263EF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2844800"/>
            <a:ext cx="2159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7BEC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To be started</a:t>
            </a:r>
          </a:p>
        </p:txBody>
      </p:sp>
      <p:sp>
        <p:nvSpPr>
          <p:cNvPr id="1047" name="Rectangle 23">
            <a:extLst>
              <a:ext uri="{FF2B5EF4-FFF2-40B4-BE49-F238E27FC236}">
                <a16:creationId xmlns:a16="http://schemas.microsoft.com/office/drawing/2014/main" xmlns="" id="{1F4408AD-CA97-090C-D408-7BCF850A4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0" y="3111500"/>
            <a:ext cx="4572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3B4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Key applications retired in May: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3B4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SAP BW · Lotus Notes · Kronos</a:t>
            </a:r>
          </a:p>
        </p:txBody>
      </p:sp>
      <p:sp>
        <p:nvSpPr>
          <p:cNvPr id="1048" name="Rectangle 24">
            <a:extLst>
              <a:ext uri="{FF2B5EF4-FFF2-40B4-BE49-F238E27FC236}">
                <a16:creationId xmlns:a16="http://schemas.microsoft.com/office/drawing/2014/main" xmlns="" id="{E2A65581-1575-2410-04D4-A3F6EE4F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200" y="1397000"/>
            <a:ext cx="2794000" cy="2032000"/>
          </a:xfrm>
          <a:prstGeom prst="rect">
            <a:avLst/>
          </a:prstGeom>
          <a:solidFill>
            <a:srgbClr val="E8F1F4"/>
          </a:solidFill>
          <a:ln w="9360">
            <a:solidFill>
              <a:srgbClr val="C6DDE5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49" name="Rectangle 25">
            <a:extLst>
              <a:ext uri="{FF2B5EF4-FFF2-40B4-BE49-F238E27FC236}">
                <a16:creationId xmlns:a16="http://schemas.microsoft.com/office/drawing/2014/main" xmlns="" id="{8F50E532-471C-B640-F382-6850393F0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1600200"/>
            <a:ext cx="24130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JUNE 2021 PLAN</a:t>
            </a:r>
          </a:p>
        </p:txBody>
      </p:sp>
      <p:sp>
        <p:nvSpPr>
          <p:cNvPr id="1050" name="Rectangle 26">
            <a:extLst>
              <a:ext uri="{FF2B5EF4-FFF2-40B4-BE49-F238E27FC236}">
                <a16:creationId xmlns:a16="http://schemas.microsoft.com/office/drawing/2014/main" xmlns="" id="{7B9F2A9B-64BD-C0DA-AB1D-25572B4AF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1879600"/>
            <a:ext cx="2387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18 apps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to complete from the 64 in flight</a:t>
            </a:r>
          </a:p>
        </p:txBody>
      </p:sp>
      <p:sp>
        <p:nvSpPr>
          <p:cNvPr id="1051" name="Rectangle 27">
            <a:extLst>
              <a:ext uri="{FF2B5EF4-FFF2-40B4-BE49-F238E27FC236}">
                <a16:creationId xmlns:a16="http://schemas.microsoft.com/office/drawing/2014/main" xmlns="" id="{9B061B07-4C77-65F7-DCD5-429CE187C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2349500"/>
            <a:ext cx="2387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the remaining 22 apps by 30 Jun 2021</a:t>
            </a:r>
          </a:p>
        </p:txBody>
      </p:sp>
      <p:sp>
        <p:nvSpPr>
          <p:cNvPr id="1052" name="Rectangle 28">
            <a:extLst>
              <a:ext uri="{FF2B5EF4-FFF2-40B4-BE49-F238E27FC236}">
                <a16:creationId xmlns:a16="http://schemas.microsoft.com/office/drawing/2014/main" xmlns="" id="{E7A1885C-9388-B6BD-1148-1B5F76B4A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2819400"/>
            <a:ext cx="2387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Next up: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SAP ECC 6.0, Siebel CRM, Oracle EBS 11i</a:t>
            </a:r>
          </a:p>
        </p:txBody>
      </p:sp>
      <p:sp>
        <p:nvSpPr>
          <p:cNvPr id="1053" name="Rectangle 29">
            <a:extLst>
              <a:ext uri="{FF2B5EF4-FFF2-40B4-BE49-F238E27FC236}">
                <a16:creationId xmlns:a16="http://schemas.microsoft.com/office/drawing/2014/main" xmlns="" id="{C279BAAC-9D8B-EC0F-94CE-862E94A7F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3606800"/>
            <a:ext cx="3251200" cy="2235200"/>
          </a:xfrm>
          <a:prstGeom prst="rect">
            <a:avLst/>
          </a:prstGeom>
          <a:solidFill>
            <a:srgbClr val="FFFFFF"/>
          </a:solidFill>
          <a:ln w="9360">
            <a:solidFill>
              <a:srgbClr val="DDE1E6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54" name="Rectangle 30">
            <a:extLst>
              <a:ext uri="{FF2B5EF4-FFF2-40B4-BE49-F238E27FC236}">
                <a16:creationId xmlns:a16="http://schemas.microsoft.com/office/drawing/2014/main" xmlns="" id="{2CACF915-AFD8-4D44-E9C1-91EB0C31D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632" y="3786166"/>
            <a:ext cx="3383592" cy="328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</a:tabLst>
              <a:defRPr/>
            </a:pPr>
            <a:r>
              <a:rPr lang="en-US" altLang="en-US" sz="1200" b="1" dirty="0" smtClean="0">
                <a:solidFill>
                  <a:srgbClr val="2E7D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RAID &amp; Support Summary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E7D8C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5" name="Rectangle 31">
            <a:extLst>
              <a:ext uri="{FF2B5EF4-FFF2-40B4-BE49-F238E27FC236}">
                <a16:creationId xmlns:a16="http://schemas.microsoft.com/office/drawing/2014/main" xmlns="" id="{3003D715-D5D9-AE06-7E41-FB34209D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114800"/>
            <a:ext cx="36116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xmlns="" id="{CBD00F6F-C28B-5797-EA6E-6A899A00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559300"/>
            <a:ext cx="511479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Risks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6878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9" name="Rectangle 35">
            <a:extLst>
              <a:ext uri="{FF2B5EF4-FFF2-40B4-BE49-F238E27FC236}">
                <a16:creationId xmlns:a16="http://schemas.microsoft.com/office/drawing/2014/main" xmlns="" id="{AB31DC0A-C631-1162-EFFB-88417B02F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30" y="4965526"/>
            <a:ext cx="12700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F8A57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F8A57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xmlns="" id="{20EE1440-0DA5-E832-6E6D-BFE22D2F9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30" y="5410026"/>
            <a:ext cx="127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Closed (93%)</a:t>
            </a:r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xmlns="" id="{74F9E434-CAF6-8F44-69F1-9BB3A5BFB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346" y="4965526"/>
            <a:ext cx="12700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912B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xmlns="" id="{EBD59D12-2D42-48A5-BD5A-9D8EED208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346" y="5410026"/>
            <a:ext cx="127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 progress</a:t>
            </a:r>
          </a:p>
        </p:txBody>
      </p:sp>
      <p:sp>
        <p:nvSpPr>
          <p:cNvPr id="1063" name="Rectangle 39">
            <a:extLst>
              <a:ext uri="{FF2B5EF4-FFF2-40B4-BE49-F238E27FC236}">
                <a16:creationId xmlns:a16="http://schemas.microsoft.com/office/drawing/2014/main" xmlns="" id="{C30EA1F9-4821-27FD-FA0E-F189F7CB5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0" y="3606800"/>
            <a:ext cx="7315200" cy="2235200"/>
          </a:xfrm>
          <a:prstGeom prst="rect">
            <a:avLst/>
          </a:prstGeom>
          <a:solidFill>
            <a:srgbClr val="FFFFFF"/>
          </a:solidFill>
          <a:ln w="9360">
            <a:solidFill>
              <a:srgbClr val="DDE1E6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64" name="Rectangle 40">
            <a:extLst>
              <a:ext uri="{FF2B5EF4-FFF2-40B4-BE49-F238E27FC236}">
                <a16:creationId xmlns:a16="http://schemas.microsoft.com/office/drawing/2014/main" xmlns="" id="{38336FCC-6827-FAE2-D933-69BBE2120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3810000"/>
            <a:ext cx="63500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KEY RISKS &amp; DEPENDENCIES</a:t>
            </a:r>
          </a:p>
        </p:txBody>
      </p:sp>
      <p:sp>
        <p:nvSpPr>
          <p:cNvPr id="1065" name="Rectangle 41">
            <a:extLst>
              <a:ext uri="{FF2B5EF4-FFF2-40B4-BE49-F238E27FC236}">
                <a16:creationId xmlns:a16="http://schemas.microsoft.com/office/drawing/2014/main" xmlns="" id="{380FA9A5-7AEB-2E47-6984-DC7EC0341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089400"/>
            <a:ext cx="40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B35C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R1</a:t>
            </a:r>
          </a:p>
        </p:txBody>
      </p:sp>
      <p:sp>
        <p:nvSpPr>
          <p:cNvPr id="1066" name="Rectangle 42">
            <a:extLst>
              <a:ext uri="{FF2B5EF4-FFF2-40B4-BE49-F238E27FC236}">
                <a16:creationId xmlns:a16="http://schemas.microsoft.com/office/drawing/2014/main" xmlns="" id="{00AD9E86-79B3-6DE6-B3BE-4F40057C2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4089400"/>
            <a:ext cx="635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4 apps on hold: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business still uses them for operational reporting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→ owner review by 15 Jun</a:t>
            </a:r>
          </a:p>
        </p:txBody>
      </p:sp>
      <p:sp>
        <p:nvSpPr>
          <p:cNvPr id="1067" name="Line 43">
            <a:extLst>
              <a:ext uri="{FF2B5EF4-FFF2-40B4-BE49-F238E27FC236}">
                <a16:creationId xmlns:a16="http://schemas.microsoft.com/office/drawing/2014/main" xmlns="" id="{40CA6D87-42EE-C682-FC7C-467F86447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4368800"/>
            <a:ext cx="6807200" cy="1588"/>
          </a:xfrm>
          <a:prstGeom prst="line">
            <a:avLst/>
          </a:prstGeom>
          <a:noFill/>
          <a:ln w="9360">
            <a:solidFill>
              <a:srgbClr val="E6E9E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68" name="Rectangle 44">
            <a:extLst>
              <a:ext uri="{FF2B5EF4-FFF2-40B4-BE49-F238E27FC236}">
                <a16:creationId xmlns:a16="http://schemas.microsoft.com/office/drawing/2014/main" xmlns="" id="{6717AEBC-701F-CA06-0897-60F36505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432300"/>
            <a:ext cx="40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B35C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R2</a:t>
            </a:r>
          </a:p>
        </p:txBody>
      </p:sp>
      <p:sp>
        <p:nvSpPr>
          <p:cNvPr id="1069" name="Rectangle 45">
            <a:extLst>
              <a:ext uri="{FF2B5EF4-FFF2-40B4-BE49-F238E27FC236}">
                <a16:creationId xmlns:a16="http://schemas.microsoft.com/office/drawing/2014/main" xmlns="" id="{C5FAAD18-8424-4429-19D3-E55A346EB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4432300"/>
            <a:ext cx="635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Archive sign-off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for regulated apps pending with Compliance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→ weekly review</a:t>
            </a:r>
          </a:p>
        </p:txBody>
      </p:sp>
      <p:sp>
        <p:nvSpPr>
          <p:cNvPr id="1070" name="Line 46">
            <a:extLst>
              <a:ext uri="{FF2B5EF4-FFF2-40B4-BE49-F238E27FC236}">
                <a16:creationId xmlns:a16="http://schemas.microsoft.com/office/drawing/2014/main" xmlns="" id="{12251E2B-890F-F652-F4E6-EA6284A2F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4711700"/>
            <a:ext cx="6807200" cy="1588"/>
          </a:xfrm>
          <a:prstGeom prst="line">
            <a:avLst/>
          </a:prstGeom>
          <a:noFill/>
          <a:ln w="9360">
            <a:solidFill>
              <a:srgbClr val="E6E9E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71" name="Rectangle 47">
            <a:extLst>
              <a:ext uri="{FF2B5EF4-FFF2-40B4-BE49-F238E27FC236}">
                <a16:creationId xmlns:a16="http://schemas.microsoft.com/office/drawing/2014/main" xmlns="" id="{1782488D-A8B5-8AC8-43FA-D8DED1038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775200"/>
            <a:ext cx="40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B35C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R3</a:t>
            </a:r>
          </a:p>
        </p:txBody>
      </p:sp>
      <p:sp>
        <p:nvSpPr>
          <p:cNvPr id="1072" name="Rectangle 48">
            <a:extLst>
              <a:ext uri="{FF2B5EF4-FFF2-40B4-BE49-F238E27FC236}">
                <a16:creationId xmlns:a16="http://schemas.microsoft.com/office/drawing/2014/main" xmlns="" id="{2B57D44F-15BB-87F3-BE89-A214A7A33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4775200"/>
            <a:ext cx="635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Business SME availability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for SAP ECC data validation in June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→ slots booked 4 weeks ahead</a:t>
            </a:r>
          </a:p>
        </p:txBody>
      </p:sp>
      <p:sp>
        <p:nvSpPr>
          <p:cNvPr id="1073" name="Line 49">
            <a:extLst>
              <a:ext uri="{FF2B5EF4-FFF2-40B4-BE49-F238E27FC236}">
                <a16:creationId xmlns:a16="http://schemas.microsoft.com/office/drawing/2014/main" xmlns="" id="{1FA79F51-5E2B-74C6-A502-92C53EA9C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5054600"/>
            <a:ext cx="6807200" cy="1588"/>
          </a:xfrm>
          <a:prstGeom prst="line">
            <a:avLst/>
          </a:prstGeom>
          <a:noFill/>
          <a:ln w="9360">
            <a:solidFill>
              <a:srgbClr val="E6E9E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xmlns="" id="{CFB08129-9517-2646-5AD4-63FC6196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118100"/>
            <a:ext cx="40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D1</a:t>
            </a:r>
          </a:p>
        </p:txBody>
      </p:sp>
      <p:sp>
        <p:nvSpPr>
          <p:cNvPr id="1075" name="Rectangle 51">
            <a:extLst>
              <a:ext uri="{FF2B5EF4-FFF2-40B4-BE49-F238E27FC236}">
                <a16:creationId xmlns:a16="http://schemas.microsoft.com/office/drawing/2014/main" xmlns="" id="{F18E1B6D-490C-8CC9-D376-75A57A95B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5118100"/>
            <a:ext cx="635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Infrastructure: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archive storage capacity for next wave 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· due 15 Jun 2021</a:t>
            </a:r>
          </a:p>
        </p:txBody>
      </p:sp>
      <p:sp>
        <p:nvSpPr>
          <p:cNvPr id="1076" name="Line 52">
            <a:extLst>
              <a:ext uri="{FF2B5EF4-FFF2-40B4-BE49-F238E27FC236}">
                <a16:creationId xmlns:a16="http://schemas.microsoft.com/office/drawing/2014/main" xmlns="" id="{37882051-8936-801B-B6B5-BC2D00643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8000" y="5397500"/>
            <a:ext cx="6807200" cy="1588"/>
          </a:xfrm>
          <a:prstGeom prst="line">
            <a:avLst/>
          </a:prstGeom>
          <a:noFill/>
          <a:ln w="9360">
            <a:solidFill>
              <a:srgbClr val="E6E9E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77" name="Rectangle 53">
            <a:extLst>
              <a:ext uri="{FF2B5EF4-FFF2-40B4-BE49-F238E27FC236}">
                <a16:creationId xmlns:a16="http://schemas.microsoft.com/office/drawing/2014/main" xmlns="" id="{D66966E7-66F6-4EF3-2E45-38F5D999C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5461000"/>
            <a:ext cx="4064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E7D8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D2</a:t>
            </a:r>
          </a:p>
        </p:txBody>
      </p:sp>
      <p:sp>
        <p:nvSpPr>
          <p:cNvPr id="1078" name="Rectangle 54">
            <a:extLst>
              <a:ext uri="{FF2B5EF4-FFF2-40B4-BE49-F238E27FC236}">
                <a16:creationId xmlns:a16="http://schemas.microsoft.com/office/drawing/2014/main" xmlns="" id="{2136962F-07F3-CF5A-AE20-E9951045C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5461000"/>
            <a:ext cx="635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/>
            </a:pPr>
            <a:r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Procurement: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licence and contract exit notices to lock in savings</a:t>
            </a:r>
          </a:p>
        </p:txBody>
      </p:sp>
      <p:sp>
        <p:nvSpPr>
          <p:cNvPr id="1079" name="Rectangle 55">
            <a:extLst>
              <a:ext uri="{FF2B5EF4-FFF2-40B4-BE49-F238E27FC236}">
                <a16:creationId xmlns:a16="http://schemas.microsoft.com/office/drawing/2014/main" xmlns="" id="{23503AE2-23AE-4BE1-39F4-E7D59C042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6045200"/>
            <a:ext cx="889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/>
            </a:pP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A758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Foundation: training curriculum  ·  </a:t>
            </a:r>
            <a:r>
              <a:rPr kumimoji="0" lang="en-US" alt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6A758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onboarding</a:t>
            </a:r>
            <a:r>
              <a:rPr kumimoji="0" lang="en-US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A758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 ·  capacity planning  ·  governance  ·  trust &amp; culture</a:t>
            </a:r>
          </a:p>
        </p:txBody>
      </p:sp>
      <p:sp>
        <p:nvSpPr>
          <p:cNvPr id="1080" name="Rectangle 56">
            <a:extLst>
              <a:ext uri="{FF2B5EF4-FFF2-40B4-BE49-F238E27FC236}">
                <a16:creationId xmlns:a16="http://schemas.microsoft.com/office/drawing/2014/main" xmlns="" id="{3C523184-4486-CED6-4EAE-93717A42C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0" y="6045200"/>
            <a:ext cx="127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6A7584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  <p:sp>
        <p:nvSpPr>
          <p:cNvPr id="57" name="Rectangle 31">
            <a:extLst>
              <a:ext uri="{FF2B5EF4-FFF2-40B4-BE49-F238E27FC236}">
                <a16:creationId xmlns:a16="http://schemas.microsoft.com/office/drawing/2014/main" xmlns="" id="{3003D715-D5D9-AE06-7E41-FB34209D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950" y="4138634"/>
            <a:ext cx="36116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lang="en-US" altLang="en-US" sz="2800" b="1" dirty="0">
                <a:solidFill>
                  <a:srgbClr val="1C2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C2A4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 32">
            <a:extLst>
              <a:ext uri="{FF2B5EF4-FFF2-40B4-BE49-F238E27FC236}">
                <a16:creationId xmlns:a16="http://schemas.microsoft.com/office/drawing/2014/main" xmlns="" id="{CBD00F6F-C28B-5797-EA6E-6A899A00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123" y="4559300"/>
            <a:ext cx="89717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6878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angle 31">
            <a:extLst>
              <a:ext uri="{FF2B5EF4-FFF2-40B4-BE49-F238E27FC236}">
                <a16:creationId xmlns:a16="http://schemas.microsoft.com/office/drawing/2014/main" xmlns="" id="{3003D715-D5D9-AE06-7E41-FB34209D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904" y="4104362"/>
            <a:ext cx="36116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0" name="Rectangle 32">
            <a:extLst>
              <a:ext uri="{FF2B5EF4-FFF2-40B4-BE49-F238E27FC236}">
                <a16:creationId xmlns:a16="http://schemas.microsoft.com/office/drawing/2014/main" xmlns="" id="{CBD00F6F-C28B-5797-EA6E-6A899A00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904" y="4548862"/>
            <a:ext cx="990952" cy="39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Customer Escalations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6878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Rectangle 33">
            <a:extLst>
              <a:ext uri="{FF2B5EF4-FFF2-40B4-BE49-F238E27FC236}">
                <a16:creationId xmlns:a16="http://schemas.microsoft.com/office/drawing/2014/main" xmlns="" id="{B6F34E3B-7D1F-0ADB-7CEB-26E529BAA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857" y="4965526"/>
            <a:ext cx="12700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2A4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</a:p>
        </p:txBody>
      </p:sp>
      <p:sp>
        <p:nvSpPr>
          <p:cNvPr id="62" name="Rectangle 34">
            <a:extLst>
              <a:ext uri="{FF2B5EF4-FFF2-40B4-BE49-F238E27FC236}">
                <a16:creationId xmlns:a16="http://schemas.microsoft.com/office/drawing/2014/main" xmlns="" id="{2A807ADF-60DC-78CB-1244-ECAD1C625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857" y="5410026"/>
            <a:ext cx="12700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1pPr>
            <a:lvl2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2pPr>
            <a:lvl3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3pPr>
            <a:lvl4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4pPr>
            <a:lvl5pPr eaLnBrk="0"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5pPr>
            <a:lvl6pPr marL="25146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6pPr>
            <a:lvl7pPr marL="29718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7pPr>
            <a:lvl8pPr marL="34290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8pPr>
            <a:lvl9pPr marL="3886200" indent="-2286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914400" algn="l"/>
              </a:tabLst>
              <a:defRPr/>
            </a:pPr>
            <a:r>
              <a:rPr kumimoji="0" lang="en-US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B6878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Tickets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5B6878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5D7FAC3-0FF8-D37E-A49F-9ECAC1D9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596AC956-8834-9EC7-6E4A-CE2B407AE5C4}"/>
              </a:ext>
            </a:extLst>
          </p:cNvPr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Decommissioning: overall status and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plan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4A14EEC3-9B36-AFA1-8BEE-5DCF5EDCCE2E}"/>
              </a:ext>
            </a:extLst>
          </p:cNvPr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150 apps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scope — 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58 Completed (40%),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35 – In progress, </a:t>
            </a:r>
            <a:r>
              <a:rPr lang="en-US" sz="14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197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planned to be completed in the next 6 months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33AC3E1E-F57D-2868-B070-1ED5FEF8CA86}"/>
              </a:ext>
            </a:extLst>
          </p:cNvPr>
          <p:cNvSpPr/>
          <p:nvPr/>
        </p:nvSpPr>
        <p:spPr>
          <a:xfrm>
            <a:off x="5076828" y="2843350"/>
            <a:ext cx="3848628" cy="357808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xmlns="" id="{7DCFE38E-4BE2-ECD7-B123-64151591B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720" y="2843350"/>
            <a:ext cx="152839" cy="152839"/>
          </a:xfrm>
          <a:prstGeom prst="rect">
            <a:avLst/>
          </a:prstGeom>
        </p:spPr>
      </p:pic>
      <p:sp>
        <p:nvSpPr>
          <p:cNvPr id="5" name="Text 55">
            <a:extLst>
              <a:ext uri="{FF2B5EF4-FFF2-40B4-BE49-F238E27FC236}">
                <a16:creationId xmlns:a16="http://schemas.microsoft.com/office/drawing/2014/main" xmlns="" id="{B7E5BAE2-CE1F-5110-E8AA-3273326C1979}"/>
              </a:ext>
            </a:extLst>
          </p:cNvPr>
          <p:cNvSpPr/>
          <p:nvPr/>
        </p:nvSpPr>
        <p:spPr>
          <a:xfrm>
            <a:off x="10574338" y="6238280"/>
            <a:ext cx="855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34" name="Shape 2"/>
          <p:cNvSpPr/>
          <p:nvPr/>
        </p:nvSpPr>
        <p:spPr>
          <a:xfrm>
            <a:off x="484632" y="1536192"/>
            <a:ext cx="786859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5" name="Text 3"/>
          <p:cNvSpPr txBox="1"/>
          <p:nvPr/>
        </p:nvSpPr>
        <p:spPr>
          <a:xfrm>
            <a:off x="594359" y="1563624"/>
            <a:ext cx="33325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00" dirty="0"/>
          </a:p>
        </p:txBody>
      </p:sp>
      <p:sp>
        <p:nvSpPr>
          <p:cNvPr id="36" name="Text 4"/>
          <p:cNvSpPr txBox="1"/>
          <p:nvPr/>
        </p:nvSpPr>
        <p:spPr>
          <a:xfrm>
            <a:off x="1234439" y="1563624"/>
            <a:ext cx="3934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950" dirty="0"/>
          </a:p>
        </p:txBody>
      </p:sp>
      <p:sp>
        <p:nvSpPr>
          <p:cNvPr id="37" name="Shape 5"/>
          <p:cNvSpPr/>
          <p:nvPr/>
        </p:nvSpPr>
        <p:spPr>
          <a:xfrm>
            <a:off x="2157984" y="1536192"/>
            <a:ext cx="786859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8" name="Text 6"/>
          <p:cNvSpPr txBox="1"/>
          <p:nvPr/>
        </p:nvSpPr>
        <p:spPr>
          <a:xfrm>
            <a:off x="2267711" y="1563624"/>
            <a:ext cx="33325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2200" dirty="0"/>
          </a:p>
        </p:txBody>
      </p:sp>
      <p:sp>
        <p:nvSpPr>
          <p:cNvPr id="39" name="Text 7"/>
          <p:cNvSpPr txBox="1"/>
          <p:nvPr/>
        </p:nvSpPr>
        <p:spPr>
          <a:xfrm>
            <a:off x="2907791" y="1563624"/>
            <a:ext cx="3934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(39%)</a:t>
            </a:r>
            <a:endParaRPr lang="en-US" sz="950" dirty="0"/>
          </a:p>
        </p:txBody>
      </p:sp>
      <p:sp>
        <p:nvSpPr>
          <p:cNvPr id="40" name="Shape 8"/>
          <p:cNvSpPr/>
          <p:nvPr/>
        </p:nvSpPr>
        <p:spPr>
          <a:xfrm>
            <a:off x="4026134" y="1538572"/>
            <a:ext cx="786859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1" name="Text 9"/>
          <p:cNvSpPr txBox="1"/>
          <p:nvPr/>
        </p:nvSpPr>
        <p:spPr>
          <a:xfrm>
            <a:off x="3941063" y="1563624"/>
            <a:ext cx="33325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2F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64</a:t>
            </a:r>
            <a:endParaRPr lang="en-US" sz="2200" dirty="0"/>
          </a:p>
        </p:txBody>
      </p:sp>
      <p:sp>
        <p:nvSpPr>
          <p:cNvPr id="42" name="Text 10"/>
          <p:cNvSpPr txBox="1"/>
          <p:nvPr/>
        </p:nvSpPr>
        <p:spPr>
          <a:xfrm>
            <a:off x="4581143" y="1563624"/>
            <a:ext cx="3934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43" name="Shape 11"/>
          <p:cNvSpPr/>
          <p:nvPr/>
        </p:nvSpPr>
        <p:spPr>
          <a:xfrm>
            <a:off x="5504688" y="1536192"/>
            <a:ext cx="66873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4" name="Text 12"/>
          <p:cNvSpPr txBox="1"/>
          <p:nvPr/>
        </p:nvSpPr>
        <p:spPr>
          <a:xfrm>
            <a:off x="5614415" y="1563624"/>
            <a:ext cx="33325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13"/>
          <p:cNvSpPr txBox="1"/>
          <p:nvPr/>
        </p:nvSpPr>
        <p:spPr>
          <a:xfrm>
            <a:off x="6254495" y="1563624"/>
            <a:ext cx="3934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</a:t>
            </a:r>
            <a:endParaRPr lang="en-US" sz="950" dirty="0"/>
          </a:p>
        </p:txBody>
      </p:sp>
      <p:sp>
        <p:nvSpPr>
          <p:cNvPr id="47" name="Shape 14"/>
          <p:cNvSpPr/>
          <p:nvPr/>
        </p:nvSpPr>
        <p:spPr>
          <a:xfrm>
            <a:off x="7178040" y="1536192"/>
            <a:ext cx="5013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9" name="Text 15"/>
          <p:cNvSpPr txBox="1"/>
          <p:nvPr/>
        </p:nvSpPr>
        <p:spPr>
          <a:xfrm>
            <a:off x="7287767" y="1563624"/>
            <a:ext cx="33325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52" name="Text 16"/>
          <p:cNvSpPr txBox="1"/>
          <p:nvPr/>
        </p:nvSpPr>
        <p:spPr>
          <a:xfrm>
            <a:off x="7927847" y="1563624"/>
            <a:ext cx="3934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started</a:t>
            </a:r>
            <a:endParaRPr lang="en-US" sz="950" dirty="0"/>
          </a:p>
        </p:txBody>
      </p:sp>
      <p:sp>
        <p:nvSpPr>
          <p:cNvPr id="54" name="Shape 17"/>
          <p:cNvSpPr/>
          <p:nvPr/>
        </p:nvSpPr>
        <p:spPr>
          <a:xfrm>
            <a:off x="411480" y="2545361"/>
            <a:ext cx="3614654" cy="4105905"/>
          </a:xfrm>
          <a:prstGeom prst="rect">
            <a:avLst/>
          </a:prstGeom>
          <a:solidFill>
            <a:srgbClr val="F4F7FA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6" name="Text 18"/>
          <p:cNvSpPr txBox="1"/>
          <p:nvPr/>
        </p:nvSpPr>
        <p:spPr>
          <a:xfrm>
            <a:off x="594359" y="29227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complexity</a:t>
            </a:r>
            <a:endParaRPr lang="en-US" sz="1050" dirty="0"/>
          </a:p>
        </p:txBody>
      </p:sp>
      <p:sp>
        <p:nvSpPr>
          <p:cNvPr id="57" name="Text 19"/>
          <p:cNvSpPr txBox="1"/>
          <p:nvPr/>
        </p:nvSpPr>
        <p:spPr>
          <a:xfrm>
            <a:off x="594359" y="3247769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by status within each complexity tier</a:t>
            </a:r>
            <a:endParaRPr lang="en-US" sz="800" dirty="0"/>
          </a:p>
        </p:txBody>
      </p:sp>
      <p:graphicFrame>
        <p:nvGraphicFramePr>
          <p:cNvPr id="59" name="Chart 0"/>
          <p:cNvGraphicFramePr/>
          <p:nvPr/>
        </p:nvGraphicFramePr>
        <p:xfrm>
          <a:off x="457200" y="3562859"/>
          <a:ext cx="3125244" cy="2538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0" name="Text 20"/>
          <p:cNvSpPr txBox="1"/>
          <p:nvPr/>
        </p:nvSpPr>
        <p:spPr>
          <a:xfrm>
            <a:off x="484632" y="610139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apps: </a:t>
            </a:r>
            <a:r>
              <a:rPr lang="en-US" sz="8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30 done (13%) — the long tail of the plan</a:t>
            </a:r>
            <a:endParaRPr lang="en-US" sz="850" dirty="0"/>
          </a:p>
        </p:txBody>
      </p:sp>
      <p:graphicFrame>
        <p:nvGraphicFramePr>
          <p:cNvPr id="61" name="Chart 0"/>
          <p:cNvGraphicFramePr/>
          <p:nvPr/>
        </p:nvGraphicFramePr>
        <p:xfrm>
          <a:off x="4026134" y="2584118"/>
          <a:ext cx="6971718" cy="3741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Shape 10"/>
          <p:cNvSpPr/>
          <p:nvPr/>
        </p:nvSpPr>
        <p:spPr>
          <a:xfrm>
            <a:off x="7281505" y="3536724"/>
            <a:ext cx="0" cy="2514600"/>
          </a:xfrm>
          <a:prstGeom prst="line">
            <a:avLst/>
          </a:prstGeom>
          <a:noFill/>
          <a:ln w="12700">
            <a:solidFill>
              <a:srgbClr val="1B2A41"/>
            </a:solidFill>
            <a:prstDash val="dash"/>
          </a:ln>
        </p:spPr>
      </p:sp>
      <p:sp>
        <p:nvSpPr>
          <p:cNvPr id="65" name="Text 11"/>
          <p:cNvSpPr txBox="1"/>
          <p:nvPr/>
        </p:nvSpPr>
        <p:spPr>
          <a:xfrm>
            <a:off x="7014074" y="318599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384039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Open risks and challenges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Priority, probability and mitigation plan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45236144"/>
              </p:ext>
            </p:extLst>
          </p:nvPr>
        </p:nvGraphicFramePr>
        <p:xfrm>
          <a:off x="548640" y="1600200"/>
          <a:ext cx="11064240" cy="431596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#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Risk / challenge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Priority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Probability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Mitigation plan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Owner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R1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8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Infrastructure:</a:t>
                      </a:r>
                      <a:r>
                        <a:rPr lang="en-US" sz="1100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archive storage capacity for next wave </a:t>
                      </a:r>
                      <a:r>
                        <a:rPr lang="en-US" sz="1100" dirty="0">
                          <a:solidFill>
                            <a:srgbClr val="5B6878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· due 15 Sep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 (70%)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Archive storage capacity for next wave </a:t>
                      </a:r>
                      <a:r>
                        <a:rPr lang="en-US" sz="1100" dirty="0">
                          <a:solidFill>
                            <a:srgbClr val="5B6878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· due 15 Sep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R2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8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Procurement:</a:t>
                      </a:r>
                      <a:r>
                        <a:rPr lang="en-US" sz="1100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licence</a:t>
                      </a:r>
                      <a:r>
                        <a:rPr lang="en-US" sz="1100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 and contract exit notices to lock in savings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Medium (50%)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Joint readiness checkpoint with platform team; re-sequence apps not dependent on platform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R3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1200" dirty="0">
                          <a:solidFill>
                            <a:srgbClr val="1C2A40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Apps on Hold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High (65%)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Finalise retention policy; agree retrieval SLA; validate with sample restores; connects with respective owners planned 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R4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F4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Undocumented app dependencies cause post-shutdown incidents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Medium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1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Medium (40%)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Dependency scan before cutover; read-only period before final shutdown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R5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F4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Vendor licence notice periods delay cost savings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Medium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1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Medium (45%)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Track notice dates; raise terminations early with procurement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R6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F4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SME availability for legacy apps reduces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Low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Low (25%)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Capture knowledge in runbooks; book SME time in advance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6" name="Text 55">
            <a:extLst>
              <a:ext uri="{FF2B5EF4-FFF2-40B4-BE49-F238E27FC236}">
                <a16:creationId xmlns:a16="http://schemas.microsoft.com/office/drawing/2014/main" xmlns="" id="{937A0FE0-7F9F-9B2B-2188-5E33448F8DDE}"/>
              </a:ext>
            </a:extLst>
          </p:cNvPr>
          <p:cNvSpPr/>
          <p:nvPr/>
        </p:nvSpPr>
        <p:spPr>
          <a:xfrm>
            <a:off x="10574338" y="6238280"/>
            <a:ext cx="855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Customer Escalations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 open escalations requiring leadership 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DF0F0"/>
          </a:solidFill>
          <a:ln w="9525">
            <a:solidFill>
              <a:srgbClr val="E1E5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2075688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223821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 apps need to be retired early.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600200" y="21214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Raised by: </a:t>
            </a:r>
            <a:r>
              <a:rPr kumimoji="0" 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cccc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600200" y="2423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Business is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concerned about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keeping 5 apps active until next wave due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infrastructure costs and wants reprioritization.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58952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Ask: Align on wave sequencing and </a:t>
            </a:r>
            <a:r>
              <a:rPr kumimoji="0" 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reprioritize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58952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Target: 10 Sep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5205D05E-09B2-0C8B-D24C-BEC4886F8530}"/>
              </a:ext>
            </a:extLst>
          </p:cNvPr>
          <p:cNvGrpSpPr/>
          <p:nvPr/>
        </p:nvGrpSpPr>
        <p:grpSpPr>
          <a:xfrm>
            <a:off x="10058400" y="1808809"/>
            <a:ext cx="1394460" cy="340031"/>
            <a:chOff x="10035540" y="1808809"/>
            <a:chExt cx="1394460" cy="340031"/>
          </a:xfrm>
        </p:grpSpPr>
        <p:sp>
          <p:nvSpPr>
            <p:cNvPr id="13" name="Shape 10"/>
            <p:cNvSpPr/>
            <p:nvPr/>
          </p:nvSpPr>
          <p:spPr>
            <a:xfrm>
              <a:off x="10058400" y="1828800"/>
              <a:ext cx="1371600" cy="320040"/>
            </a:xfrm>
            <a:prstGeom prst="roundRect">
              <a:avLst>
                <a:gd name="adj" fmla="val 21115"/>
              </a:avLst>
            </a:prstGeom>
            <a:solidFill>
              <a:srgbClr val="D6454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10035540" y="1808809"/>
              <a:ext cx="1371600" cy="320040"/>
            </a:xfrm>
            <a:prstGeom prst="roundRect">
              <a:avLst>
                <a:gd name="adj" fmla="val 50000"/>
              </a:avLst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Open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5" name="Shape 12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DF0F0"/>
          </a:solidFill>
          <a:ln w="9525">
            <a:solidFill>
              <a:srgbClr val="E1E5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7240" y="3630168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3778301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00200" y="3337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1F4D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Retrieval SLA for archived data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600200" y="36758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Raised by: </a:t>
            </a:r>
            <a:r>
              <a:rPr kumimoji="0" 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gggg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1600200" y="3977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Compliance wants guaranteed retrieval times and retention periods before apps are shut down.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7589520" y="3383280"/>
            <a:ext cx="245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Ask: Confirm SLA and retention policy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758952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Target: 15 Sep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A1087C41-7504-8B15-6488-9834959F72B7}"/>
              </a:ext>
            </a:extLst>
          </p:cNvPr>
          <p:cNvGrpSpPr/>
          <p:nvPr/>
        </p:nvGrpSpPr>
        <p:grpSpPr>
          <a:xfrm>
            <a:off x="10066020" y="3383280"/>
            <a:ext cx="1394460" cy="320040"/>
            <a:chOff x="10058400" y="3383280"/>
            <a:chExt cx="1394460" cy="320040"/>
          </a:xfrm>
        </p:grpSpPr>
        <p:sp>
          <p:nvSpPr>
            <p:cNvPr id="23" name="Shape 19"/>
            <p:cNvSpPr/>
            <p:nvPr/>
          </p:nvSpPr>
          <p:spPr>
            <a:xfrm>
              <a:off x="10058400" y="3383280"/>
              <a:ext cx="1371600" cy="320040"/>
            </a:xfrm>
            <a:prstGeom prst="roundRect">
              <a:avLst>
                <a:gd name="adj" fmla="val 22831"/>
              </a:avLst>
            </a:prstGeom>
            <a:solidFill>
              <a:srgbClr val="D9912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Text 20"/>
            <p:cNvSpPr txBox="1"/>
            <p:nvPr/>
          </p:nvSpPr>
          <p:spPr>
            <a:xfrm>
              <a:off x="10081260" y="3383280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In progress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5" name="Shape 21"/>
          <p:cNvSpPr/>
          <p:nvPr/>
        </p:nvSpPr>
        <p:spPr>
          <a:xfrm>
            <a:off x="548640" y="48209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DF0F0"/>
          </a:solidFill>
          <a:ln w="9525">
            <a:solidFill>
              <a:srgbClr val="E1E5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77240" y="5184648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332781"/>
            <a:ext cx="252374" cy="25237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600200" y="4892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solidFill>
                  <a:srgbClr val="0F1F4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 Serve reporting workbench erratic behavior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600200" y="52303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Raised by: </a:t>
            </a:r>
            <a:r>
              <a:rPr kumimoji="0" lang="en-US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5FBF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Aaaaa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1600200" y="5532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Users reported slowness,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blank results</a:t>
            </a:r>
            <a:r>
              <a:rPr lang="en-US" sz="1200" dirty="0" smtClean="0">
                <a:solidFill>
                  <a:srgbClr val="1F29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F29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page error while running reports</a:t>
            </a:r>
            <a:r>
              <a:rPr kumimoji="0" lang="en-US" sz="1200" b="0" i="0" u="none" strike="noStrike" kern="1200" cap="none" spc="0" normalizeH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7589520" y="4937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Ask: </a:t>
            </a:r>
            <a:r>
              <a:rPr kumimoji="0" lang="en-US" sz="1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Platform</a:t>
            </a:r>
            <a:r>
              <a:rPr kumimoji="0" lang="en-US" sz="1300" b="1" i="0" u="none" strike="noStrike" kern="1200" cap="none" spc="0" normalizeH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team </a:t>
            </a:r>
            <a:r>
              <a:rPr lang="en-US" sz="1300" b="1" dirty="0" smtClean="0">
                <a:solidFill>
                  <a:srgbClr val="1F293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installed patch </a:t>
            </a:r>
            <a:r>
              <a:rPr kumimoji="0" lang="en-US" sz="1300" b="1" i="0" u="none" strike="noStrike" kern="1200" cap="none" spc="0" normalizeH="0" noProof="0" dirty="0" smtClean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758952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Target: 20 Sep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85305909-65EA-2A5E-3584-361378FAAFE5}"/>
              </a:ext>
            </a:extLst>
          </p:cNvPr>
          <p:cNvGrpSpPr/>
          <p:nvPr/>
        </p:nvGrpSpPr>
        <p:grpSpPr>
          <a:xfrm>
            <a:off x="10043160" y="5012741"/>
            <a:ext cx="1406165" cy="320040"/>
            <a:chOff x="10058400" y="4937760"/>
            <a:chExt cx="1406165" cy="320040"/>
          </a:xfrm>
        </p:grpSpPr>
        <p:sp>
          <p:nvSpPr>
            <p:cNvPr id="33" name="Shape 28"/>
            <p:cNvSpPr/>
            <p:nvPr/>
          </p:nvSpPr>
          <p:spPr>
            <a:xfrm>
              <a:off x="10058400" y="4937760"/>
              <a:ext cx="1371600" cy="320040"/>
            </a:xfrm>
            <a:prstGeom prst="roundRect">
              <a:avLst>
                <a:gd name="adj" fmla="val 23689"/>
              </a:avLst>
            </a:prstGeom>
            <a:solidFill>
              <a:srgbClr val="2F8A57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Text 29"/>
            <p:cNvSpPr txBox="1"/>
            <p:nvPr/>
          </p:nvSpPr>
          <p:spPr>
            <a:xfrm>
              <a:off x="10092965" y="4937760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Closed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8" name="Text 55">
            <a:extLst>
              <a:ext uri="{FF2B5EF4-FFF2-40B4-BE49-F238E27FC236}">
                <a16:creationId xmlns:a16="http://schemas.microsoft.com/office/drawing/2014/main" xmlns="" id="{2CC7AE73-D9E1-09BE-CCA3-DBE782F98D49}"/>
              </a:ext>
            </a:extLst>
          </p:cNvPr>
          <p:cNvSpPr/>
          <p:nvPr/>
        </p:nvSpPr>
        <p:spPr>
          <a:xfrm>
            <a:off x="10574338" y="6238280"/>
            <a:ext cx="855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at a glance</a:t>
            </a:r>
            <a:endParaRPr lang="en-US" sz="2800" dirty="0"/>
          </a:p>
        </p:txBody>
      </p:sp>
      <p:sp>
        <p:nvSpPr>
          <p:cNvPr id="3" name="Shape 2"/>
          <p:cNvSpPr/>
          <p:nvPr/>
        </p:nvSpPr>
        <p:spPr>
          <a:xfrm>
            <a:off x="457200" y="1143000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594360" y="11795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5" name="Text 4"/>
          <p:cNvSpPr txBox="1"/>
          <p:nvPr/>
        </p:nvSpPr>
        <p:spPr>
          <a:xfrm>
            <a:off x="1234440" y="1179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received</a:t>
            </a:r>
            <a:endParaRPr lang="en-US" sz="1050" dirty="0"/>
          </a:p>
        </p:txBody>
      </p:sp>
      <p:sp>
        <p:nvSpPr>
          <p:cNvPr id="6" name="Shape 5"/>
          <p:cNvSpPr/>
          <p:nvPr/>
        </p:nvSpPr>
        <p:spPr>
          <a:xfrm>
            <a:off x="2542032" y="1143000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Text 6"/>
          <p:cNvSpPr txBox="1"/>
          <p:nvPr/>
        </p:nvSpPr>
        <p:spPr>
          <a:xfrm>
            <a:off x="2679192" y="11795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8" name="Text 7"/>
          <p:cNvSpPr txBox="1"/>
          <p:nvPr/>
        </p:nvSpPr>
        <p:spPr>
          <a:xfrm>
            <a:off x="3319272" y="1179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(93%)</a:t>
            </a:r>
            <a:endParaRPr lang="en-US" sz="1050" dirty="0"/>
          </a:p>
        </p:txBody>
      </p:sp>
      <p:sp>
        <p:nvSpPr>
          <p:cNvPr id="9" name="Shape 8"/>
          <p:cNvSpPr/>
          <p:nvPr/>
        </p:nvSpPr>
        <p:spPr>
          <a:xfrm>
            <a:off x="4626864" y="1143000"/>
            <a:ext cx="1920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4764024" y="11795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9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10"/>
          <p:cNvSpPr txBox="1"/>
          <p:nvPr/>
        </p:nvSpPr>
        <p:spPr>
          <a:xfrm>
            <a:off x="5404104" y="1179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965960"/>
          <a:ext cx="11430000" cy="4535046"/>
        </p:xfrm>
        <a:graphic>
          <a:graphicData uri="http://schemas.openxmlformats.org/drawingml/2006/table">
            <a:tbl>
              <a:tblPr/>
              <a:tblGrid>
                <a:gridCol w="444500"/>
                <a:gridCol w="2794000"/>
                <a:gridCol w="1270000"/>
                <a:gridCol w="787400"/>
                <a:gridCol w="1016000"/>
                <a:gridCol w="914400"/>
                <a:gridCol w="3060700"/>
                <a:gridCol w="1143000"/>
              </a:tblGrid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/ request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/ next step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[INC/RITM no.] – [short description]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[Category]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[P1–P4]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F7F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[Current action and expected close date]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[INC/RITM no.] – [short description]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[Category]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[P1–P4]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F7F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[How it was resolved]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[INC/RITM no.] – [short description]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[Category]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[P1–P4]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F7F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[How it was resolved]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[INC/RITM no.] – [short description]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[Category]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[P1–P4]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F7F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[How it was resolved]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[INC/RITM no.] – [short description]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[Category]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[P1–P4]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 Mon]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F7F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[How it was resolved]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"/>
        <a:cs typeface="Noto Sans CJK SC"/>
      </a:majorFont>
      <a:minorFont>
        <a:latin typeface="Calibri"/>
        <a:ea typeface="Noto Sans CJK SC"/>
        <a:cs typeface="Noto Sans CJK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861</Words>
  <Application>Microsoft Office PowerPoint</Application>
  <PresentationFormat>Custom</PresentationFormat>
  <Paragraphs>179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Office Theme</vt:lpstr>
      <vt:lpstr>1_Office Theme</vt:lpstr>
      <vt:lpstr>Slide 1</vt:lpstr>
      <vt:lpstr>Slide 2</vt:lpstr>
      <vt:lpstr>Slide 3</vt:lpstr>
      <vt:lpstr>Slide 4</vt:lpstr>
      <vt:lpstr>Slide 5</vt:lpstr>
    </vt:vector>
  </TitlesOfParts>
  <Company>Nilabh Sharma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3.0 Decommissioning Factory — SteerCo status</dc:title>
  <dc:subject>Nilabh Sharma</dc:subject>
  <dc:creator>Nilabh Sharma</dc:creator>
  <cp:lastModifiedBy>Yash Kalra</cp:lastModifiedBy>
  <cp:revision>28</cp:revision>
  <dcterms:created xsi:type="dcterms:W3CDTF">2026-09-29T18:33:51Z</dcterms:created>
  <dcterms:modified xsi:type="dcterms:W3CDTF">2026-09-30T09:31:09Z</dcterms:modified>
  <cp:contentType>Nilabh Sharma</cp:contentTyp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Public</vt:lpwstr>
  </property>
</Properties>
</file>