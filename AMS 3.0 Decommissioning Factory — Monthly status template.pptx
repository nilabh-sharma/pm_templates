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Track. $3.2M savings realised to date. 58 of 150 decommissioned (39%); 64 in flight, 4 on hold, 24 not started. The 4 on-hold apps are the top risk: business stakeholders still use them for operational reporting. Key applications retired in May: SAP BW, Lotus Notes, Kronos (not the full list). June: complete 18, start the remaining 24 by 30 Jun. 3 risks open; 15 ServiceNow tickets received, 14 closed, 1 in progress. Figures other than those supplied, app names, risks and dependencies are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4400" y="127000"/>
            <a:ext cx="1574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080"/>
              </a:lnSpc>
              <a:buNone/>
            </a:pPr>
            <a:r>
              <a:rPr lang="en-US" sz="2200" b="1" i="1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Stryker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12800" y="508000"/>
            <a:ext cx="743082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AMS 3.0 Decommissioning Factory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397000"/>
            <a:ext cx="743082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status · 27 May 2021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033544" y="552450"/>
            <a:ext cx="3339306" cy="1048941"/>
          </a:xfrm>
          <a:prstGeom prst="roundRect">
            <a:avLst>
              <a:gd name="adj" fmla="val 28453"/>
            </a:avLst>
          </a:prstGeom>
          <a:solidFill>
            <a:srgbClr val="E6F2EA"/>
          </a:solidFill>
          <a:ln w="12700">
            <a:solidFill>
              <a:srgbClr val="2F8A57"/>
            </a:solidFill>
            <a:prstDash val="solid"/>
          </a:ln>
        </p:spPr>
      </p:sp>
      <p:pic>
        <p:nvPicPr>
          <p:cNvPr id="6" name="Image 0" descr="ellipse">    </p:cNvPr>
          <p:cNvPicPr>
            <a:picLocks noChangeAspect="1"/>
          </p:cNvPicPr>
          <p:nvPr/>
        </p:nvPicPr>
        <p:blipFill>
          <a:blip r:embed="rId1"/>
          <a:srcRect l="0" r="0" t="-117" b="-117"/>
          <a:stretch/>
        </p:blipFill>
        <p:spPr>
          <a:xfrm>
            <a:off x="8293894" y="949920"/>
            <a:ext cx="253405" cy="2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74298" y="863600"/>
            <a:ext cx="98018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6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status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730680" y="685800"/>
            <a:ext cx="143262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F6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12800" y="1798241"/>
            <a:ext cx="2286000" cy="2562622"/>
          </a:xfrm>
          <a:prstGeom prst="roundRect">
            <a:avLst>
              <a:gd name="adj" fmla="val 4444"/>
            </a:avLst>
          </a:prstGeom>
          <a:solidFill>
            <a:srgbClr val="1C2A40"/>
          </a:solidFill>
          <a:ln/>
        </p:spPr>
      </p:sp>
      <p:sp>
        <p:nvSpPr>
          <p:cNvPr id="10" name="Text 7"/>
          <p:cNvSpPr/>
          <p:nvPr/>
        </p:nvSpPr>
        <p:spPr>
          <a:xfrm>
            <a:off x="1041400" y="2001441"/>
            <a:ext cx="18836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FB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REALISED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41400" y="2363291"/>
            <a:ext cx="1883664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$3.2M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1041400" y="3731022"/>
            <a:ext cx="188366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 to date (as of May 2021)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05175" y="1801416"/>
            <a:ext cx="5073650" cy="2556272"/>
          </a:xfrm>
          <a:prstGeom prst="roundRect">
            <a:avLst>
              <a:gd name="adj" fmla="val 3850"/>
            </a:avLst>
          </a:prstGeom>
          <a:solidFill>
            <a:srgbClr val="FFFFFF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62350" y="2007791"/>
            <a:ext cx="46960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E7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DECOMMISSIONING PROGRESS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562350" y="2297311"/>
            <a:ext cx="4696079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r>
              <a:rPr lang="en-US" sz="2800" b="1" dirty="0">
                <a:solidFill>
                  <a:srgbClr val="2D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150 applications decommissioned (39%)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3562350" y="3155752"/>
            <a:ext cx="4559300" cy="203200"/>
          </a:xfrm>
          <a:prstGeom prst="roundRect">
            <a:avLst>
              <a:gd name="adj" fmla="val 25000"/>
            </a:avLst>
          </a:prstGeom>
          <a:solidFill>
            <a:srgbClr val="DDE1E6"/>
          </a:solidFill>
          <a:ln/>
        </p:spPr>
      </p:sp>
      <p:sp>
        <p:nvSpPr>
          <p:cNvPr id="17" name="Shape 14"/>
          <p:cNvSpPr/>
          <p:nvPr/>
        </p:nvSpPr>
        <p:spPr>
          <a:xfrm>
            <a:off x="3562350" y="3155752"/>
            <a:ext cx="1765300" cy="203200"/>
          </a:xfrm>
          <a:custGeom>
            <a:avLst/>
            <a:gdLst/>
            <a:ahLst/>
            <a:cxnLst/>
            <a:rect l="l" t="t" r="r" b="b"/>
            <a:pathLst>
              <a:path w="1765300" h="203200">
                <a:moveTo>
                  <a:pt x="50800" y="0"/>
                </a:moveTo>
                <a:lnTo>
                  <a:pt x="1765300" y="0"/>
                </a:lnTo>
                <a:lnTo>
                  <a:pt x="1765300" y="203200"/>
                </a:lnTo>
                <a:lnTo>
                  <a:pt x="50800" y="20320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2E7D8C"/>
          </a:solidFill>
          <a:ln/>
        </p:spPr>
      </p:sp>
      <p:sp>
        <p:nvSpPr>
          <p:cNvPr id="18" name="Shape 15"/>
          <p:cNvSpPr/>
          <p:nvPr/>
        </p:nvSpPr>
        <p:spPr>
          <a:xfrm>
            <a:off x="5327650" y="3155752"/>
            <a:ext cx="1949450" cy="203200"/>
          </a:xfrm>
          <a:prstGeom prst="rect">
            <a:avLst/>
          </a:prstGeom>
          <a:solidFill>
            <a:srgbClr val="8FBFD4"/>
          </a:solidFill>
          <a:ln/>
        </p:spPr>
      </p:sp>
      <p:sp>
        <p:nvSpPr>
          <p:cNvPr id="19" name="Shape 16"/>
          <p:cNvSpPr/>
          <p:nvPr/>
        </p:nvSpPr>
        <p:spPr>
          <a:xfrm>
            <a:off x="7277100" y="3155752"/>
            <a:ext cx="120650" cy="203200"/>
          </a:xfrm>
          <a:prstGeom prst="rect">
            <a:avLst/>
          </a:prstGeom>
          <a:solidFill>
            <a:srgbClr val="D9912B"/>
          </a:solidFill>
          <a:ln/>
        </p:spPr>
      </p:sp>
      <p:sp>
        <p:nvSpPr>
          <p:cNvPr id="20" name="Shape 17"/>
          <p:cNvSpPr/>
          <p:nvPr/>
        </p:nvSpPr>
        <p:spPr>
          <a:xfrm>
            <a:off x="7397750" y="3155752"/>
            <a:ext cx="736600" cy="203200"/>
          </a:xfrm>
          <a:custGeom>
            <a:avLst/>
            <a:gdLst/>
            <a:ahLst/>
            <a:cxnLst/>
            <a:rect l="l" t="t" r="r" b="b"/>
            <a:pathLst>
              <a:path w="736600" h="203200">
                <a:moveTo>
                  <a:pt x="0" y="0"/>
                </a:moveTo>
                <a:lnTo>
                  <a:pt x="685800" y="0"/>
                </a:lnTo>
                <a:arcTo hR="50800" wR="50800" stAng="16200000" swAng="5400000"/>
                <a:lnTo>
                  <a:pt x="736600" y="152400"/>
                </a:lnTo>
                <a:arcTo hR="50800" wR="50800" stAng="0" swAng="5400000"/>
                <a:lnTo>
                  <a:pt x="0" y="203200"/>
                </a:lnTo>
                <a:lnTo>
                  <a:pt x="0" y="0"/>
                </a:lnTo>
                <a:close/>
              </a:path>
            </a:pathLst>
          </a:custGeom>
          <a:solidFill>
            <a:srgbClr val="DDE1E6"/>
          </a:solidFill>
          <a:ln/>
        </p:spPr>
      </p:sp>
      <p:sp>
        <p:nvSpPr>
          <p:cNvPr id="21" name="Text 18"/>
          <p:cNvSpPr/>
          <p:nvPr/>
        </p:nvSpPr>
        <p:spPr>
          <a:xfrm>
            <a:off x="3562350" y="3435152"/>
            <a:ext cx="23480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E7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r>
              <a:rPr lang="en-US" sz="1200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r>
              <a:rPr lang="en-US" sz="1200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Completed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842000" y="3435152"/>
            <a:ext cx="23480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B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r>
              <a:rPr lang="en-US" sz="1200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r>
              <a:rPr lang="en-US" sz="1200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progress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562350" y="3648472"/>
            <a:ext cx="23480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9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r>
              <a:rPr lang="en-US" sz="1200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200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hold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842000" y="3648472"/>
            <a:ext cx="23480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7B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r>
              <a:rPr lang="en-US" sz="1200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r>
              <a:rPr lang="en-US" sz="1200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be started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562350" y="3937992"/>
            <a:ext cx="46960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D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applications retired in May:</a:t>
            </a:r>
            <a:r>
              <a:rPr lang="en-US" sz="1200" dirty="0">
                <a:solidFill>
                  <a:srgbClr val="2D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BW · Lotus Notes · Kronos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588375" y="1801416"/>
            <a:ext cx="2787650" cy="2556272"/>
          </a:xfrm>
          <a:prstGeom prst="roundRect">
            <a:avLst>
              <a:gd name="adj" fmla="val 3850"/>
            </a:avLst>
          </a:prstGeom>
          <a:solidFill>
            <a:srgbClr val="E8F1F4"/>
          </a:solidFill>
          <a:ln w="6350">
            <a:solidFill>
              <a:srgbClr val="C6DD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794750" y="2007791"/>
            <a:ext cx="24461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E7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2021 PLAN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794750" y="2310011"/>
            <a:ext cx="244614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apps</a:t>
            </a:r>
            <a:r>
              <a:rPr lang="en-US" sz="1200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complete from the 64 in flight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794750" y="2779911"/>
            <a:ext cx="244614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r>
              <a:rPr lang="en-US" sz="1200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remaining 24 apps by 30 Jun 2021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794750" y="3249811"/>
            <a:ext cx="244614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up:</a:t>
            </a:r>
            <a:r>
              <a:rPr lang="en-US" sz="1200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SAP ECC 6.0, Siebel CRM, Oracle EBS 11i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15975" y="4516438"/>
            <a:ext cx="3041650" cy="1322388"/>
          </a:xfrm>
          <a:prstGeom prst="roundRect">
            <a:avLst>
              <a:gd name="adj" fmla="val 7443"/>
            </a:avLst>
          </a:prstGeom>
          <a:solidFill>
            <a:srgbClr val="FFFFFF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73150" y="4722813"/>
            <a:ext cx="2603119" cy="1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b="1" spc="150" kern="0" dirty="0">
                <a:solidFill>
                  <a:srgbClr val="2E7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SERVICENOW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1073150" y="4959052"/>
            <a:ext cx="1250950" cy="18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680" b="1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80" dirty="0"/>
          </a:p>
        </p:txBody>
      </p:sp>
      <p:sp>
        <p:nvSpPr>
          <p:cNvPr id="34" name="Text 31"/>
          <p:cNvSpPr/>
          <p:nvPr/>
        </p:nvSpPr>
        <p:spPr>
          <a:xfrm>
            <a:off x="1073150" y="5139333"/>
            <a:ext cx="1250950" cy="118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5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identified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2400300" y="4959052"/>
            <a:ext cx="1250950" cy="18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680" b="1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680" dirty="0"/>
          </a:p>
        </p:txBody>
      </p:sp>
      <p:sp>
        <p:nvSpPr>
          <p:cNvPr id="36" name="Text 33"/>
          <p:cNvSpPr/>
          <p:nvPr/>
        </p:nvSpPr>
        <p:spPr>
          <a:xfrm>
            <a:off x="2400300" y="5139333"/>
            <a:ext cx="1250950" cy="118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5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received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1073150" y="5359202"/>
            <a:ext cx="1250950" cy="18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680" b="1" dirty="0">
                <a:solidFill>
                  <a:srgbClr val="2F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680" dirty="0"/>
          </a:p>
        </p:txBody>
      </p:sp>
      <p:sp>
        <p:nvSpPr>
          <p:cNvPr id="38" name="Text 35"/>
          <p:cNvSpPr/>
          <p:nvPr/>
        </p:nvSpPr>
        <p:spPr>
          <a:xfrm>
            <a:off x="1073150" y="5539482"/>
            <a:ext cx="1250950" cy="11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5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(93%)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2400300" y="5359202"/>
            <a:ext cx="1250950" cy="18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680" b="1" dirty="0">
                <a:solidFill>
                  <a:srgbClr val="D9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80" dirty="0"/>
          </a:p>
        </p:txBody>
      </p:sp>
      <p:sp>
        <p:nvSpPr>
          <p:cNvPr id="40" name="Text 37"/>
          <p:cNvSpPr/>
          <p:nvPr/>
        </p:nvSpPr>
        <p:spPr>
          <a:xfrm>
            <a:off x="2400300" y="5539482"/>
            <a:ext cx="1250950" cy="11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5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720" dirty="0"/>
          </a:p>
        </p:txBody>
      </p:sp>
      <p:sp>
        <p:nvSpPr>
          <p:cNvPr id="41" name="Shape 38"/>
          <p:cNvSpPr/>
          <p:nvPr/>
        </p:nvSpPr>
        <p:spPr>
          <a:xfrm>
            <a:off x="4067175" y="4516438"/>
            <a:ext cx="7308850" cy="1322388"/>
          </a:xfrm>
          <a:prstGeom prst="roundRect">
            <a:avLst>
              <a:gd name="adj" fmla="val 7443"/>
            </a:avLst>
          </a:prstGeom>
          <a:solidFill>
            <a:srgbClr val="FFFFFF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324350" y="4722813"/>
            <a:ext cx="6998335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b="1" spc="150" kern="0" dirty="0">
                <a:solidFill>
                  <a:srgbClr val="2E7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&amp; DEPENDENCIES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4324350" y="4965700"/>
            <a:ext cx="6794500" cy="0"/>
          </a:xfrm>
          <a:prstGeom prst="line">
            <a:avLst/>
          </a:prstGeom>
          <a:noFill/>
          <a:ln w="6350">
            <a:solidFill>
              <a:srgbClr val="E6E9E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324350" y="4832350"/>
            <a:ext cx="45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4857750" y="4832350"/>
            <a:ext cx="64489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apps on hold:</a:t>
            </a:r>
            <a:r>
              <a:rPr lang="en-US" sz="1200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business still uses them for operational reporting </a:t>
            </a:r>
            <a:r>
              <a:rPr lang="en-US" sz="1200" dirty="0">
                <a:solidFill>
                  <a:srgbClr val="5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owner review by 15 Jun, read-only archive option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4324350" y="5165725"/>
            <a:ext cx="6794500" cy="0"/>
          </a:xfrm>
          <a:prstGeom prst="line">
            <a:avLst/>
          </a:prstGeom>
          <a:noFill/>
          <a:ln w="6350">
            <a:solidFill>
              <a:srgbClr val="E6E9E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324350" y="5032375"/>
            <a:ext cx="45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4857750" y="5032375"/>
            <a:ext cx="64489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sign-off</a:t>
            </a:r>
            <a:r>
              <a:rPr lang="en-US" sz="1200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regulated apps pending with Compliance </a:t>
            </a:r>
            <a:r>
              <a:rPr lang="en-US" sz="1200" dirty="0">
                <a:solidFill>
                  <a:srgbClr val="5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weekly review, standard retention templates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4324350" y="5365750"/>
            <a:ext cx="6794500" cy="0"/>
          </a:xfrm>
          <a:prstGeom prst="line">
            <a:avLst/>
          </a:prstGeom>
          <a:noFill/>
          <a:ln w="6350">
            <a:solidFill>
              <a:srgbClr val="E6E9E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324350" y="5232400"/>
            <a:ext cx="45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4857750" y="5232400"/>
            <a:ext cx="64489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SME availability</a:t>
            </a:r>
            <a:r>
              <a:rPr lang="en-US" sz="1200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SAP ECC data validation in June </a:t>
            </a:r>
            <a:r>
              <a:rPr lang="en-US" sz="1200" dirty="0">
                <a:solidFill>
                  <a:srgbClr val="5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slots booked 4 weeks ahead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4324350" y="5519738"/>
            <a:ext cx="6794500" cy="0"/>
          </a:xfrm>
          <a:prstGeom prst="line">
            <a:avLst/>
          </a:prstGeom>
          <a:noFill/>
          <a:ln w="6350">
            <a:solidFill>
              <a:srgbClr val="E6E9E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324350" y="5432425"/>
            <a:ext cx="45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7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4857750" y="5432425"/>
            <a:ext cx="50955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Infrastructure:</a:t>
            </a:r>
            <a:r>
              <a:rPr lang="en-US" sz="1200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archive storage capacity for next wave </a:t>
            </a:r>
            <a:r>
              <a:rPr lang="en-US" sz="1200" dirty="0">
                <a:solidFill>
                  <a:srgbClr val="5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due 15 Jun 2021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4324350" y="5586413"/>
            <a:ext cx="45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7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4857750" y="5586413"/>
            <a:ext cx="45281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Procurement:</a:t>
            </a:r>
            <a:r>
              <a:rPr lang="en-US" sz="1200" dirty="0">
                <a:solidFill>
                  <a:srgbClr val="1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licence and contract exit notices to lock in savings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812800" y="6238280"/>
            <a:ext cx="65003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6A7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Foundation: training curriculum · onboarding · capacity planning · governance · trust &amp; culture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10574338" y="6238280"/>
            <a:ext cx="8556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3.0 Decommissioning Factory — SteerCo status</dc:title>
  <dc:subject>PptxGenJS Presentation</dc:subject>
  <dc:creator>PptxGenJS</dc:creator>
  <cp:lastModifiedBy>PptxGenJS</cp:lastModifiedBy>
  <cp:revision>1</cp:revision>
  <dcterms:created xsi:type="dcterms:W3CDTF">2026-09-29T18:33:51Z</dcterms:created>
  <dcterms:modified xsi:type="dcterms:W3CDTF">2026-09-29T18:33:51Z</dcterms:modified>
</cp:coreProperties>
</file>